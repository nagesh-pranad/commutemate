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14.fntdata" ContentType="application/x-fontdata"/>
  <Override PartName="/ppt/fonts/font15.fntdata" ContentType="application/x-fontdata"/>
  <Override PartName="/ppt/fonts/font16.fntdata" ContentType="application/x-fontdata"/>
  <Override PartName="/ppt/fonts/font17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media/image10.svg" ContentType="image/svg+xml"/>
  <Override PartName="/ppt/media/image11.svg" ContentType="image/svg+xml"/>
  <Override PartName="/ppt/media/image12.svg" ContentType="image/svg+xml"/>
  <Override PartName="/ppt/media/image13.svg" ContentType="image/svg+xml"/>
  <Override PartName="/ppt/media/image14.svg" ContentType="image/svg+xml"/>
  <Override PartName="/ppt/media/image15.svg" ContentType="image/svg+xml"/>
  <Override PartName="/ppt/media/image17.svg" ContentType="image/svg+xml"/>
  <Override PartName="/ppt/media/image18.svg" ContentType="image/svg+xml"/>
  <Override PartName="/ppt/media/image19.svg" ContentType="image/svg+xml"/>
  <Override PartName="/ppt/media/image20.svg" ContentType="image/svg+xml"/>
  <Override PartName="/ppt/media/image21.svg" ContentType="image/svg+xml"/>
  <Override PartName="/ppt/media/image24.svg" ContentType="image/svg+xml"/>
  <Override PartName="/ppt/media/image25.svg" ContentType="image/svg+xml"/>
  <Override PartName="/ppt/media/image26.svg" ContentType="image/svg+xml"/>
  <Override PartName="/ppt/media/image27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5"/>
  </p:notesMasterIdLst>
  <p:sldIdLst>
    <p:sldId id="267" r:id="rId3"/>
    <p:sldId id="257" r:id="rId4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/>
  <p:notesSz cx="5143500" cy="9144000"/>
  <p:embeddedFontLst>
    <p:embeddedFont>
      <p:font typeface="Kanit Light" pitchFamily="34" charset="0"/>
      <p:regular r:id="rId17"/>
    </p:embeddedFont>
    <p:embeddedFont>
      <p:font typeface="Kanit Light" pitchFamily="34" charset="-122"/>
      <p:regular r:id="rId18"/>
    </p:embeddedFont>
    <p:embeddedFont>
      <p:font typeface="Kanit Light" pitchFamily="34" charset="-120"/>
      <p:regular r:id="rId19"/>
    </p:embeddedFont>
    <p:embeddedFont>
      <p:font typeface="Martel Sans" panose="00000800000000000000" pitchFamily="34" charset="0"/>
      <p:bold r:id="rId20"/>
    </p:embeddedFont>
    <p:embeddedFont>
      <p:font typeface="Martel Sans" panose="00000800000000000000" pitchFamily="34" charset="-122"/>
      <p:bold r:id="rId21"/>
    </p:embeddedFont>
    <p:embeddedFont>
      <p:font typeface="Martel Sans" panose="00000800000000000000" pitchFamily="34" charset="-120"/>
      <p:bold r:id="rId22"/>
    </p:embeddedFont>
    <p:embeddedFont>
      <p:font typeface="Consolas" panose="020B0609020204030204" pitchFamily="34" charset="0"/>
      <p:regular r:id="rId23"/>
      <p:bold r:id="rId24"/>
      <p:italic r:id="rId25"/>
      <p:boldItalic r:id="rId26"/>
    </p:embeddedFont>
    <p:embeddedFont>
      <p:font typeface="Consolas" panose="020B0609020204030204" pitchFamily="34" charset="-122"/>
      <p:regular r:id="rId27"/>
    </p:embeddedFont>
    <p:embeddedFont>
      <p:font typeface="Consolas" panose="020B0609020204030204" pitchFamily="34" charset="-120"/>
      <p:regular r:id="rId28"/>
    </p:embeddedFont>
    <p:embeddedFont>
      <p:font typeface="Calibri" panose="020F0502020204030204" charset="0"/>
      <p:regular r:id="rId29"/>
      <p:bold r:id="rId30"/>
      <p:italic r:id="rId31"/>
      <p:boldItalic r:id="rId32"/>
    </p:embeddedFont>
    <p:embeddedFont>
      <p:font typeface="Berlin Sans FB Demi" panose="020E0802020502020306" pitchFamily="34" charset="0"/>
      <p:bold r:id="rId3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3" Type="http://schemas.openxmlformats.org/officeDocument/2006/relationships/font" Target="fonts/font17.fntdata"/><Relationship Id="rId32" Type="http://schemas.openxmlformats.org/officeDocument/2006/relationships/font" Target="fonts/font16.fntdata"/><Relationship Id="rId31" Type="http://schemas.openxmlformats.org/officeDocument/2006/relationships/font" Target="fonts/font15.fntdata"/><Relationship Id="rId30" Type="http://schemas.openxmlformats.org/officeDocument/2006/relationships/font" Target="fonts/font14.fntdata"/><Relationship Id="rId3" Type="http://schemas.openxmlformats.org/officeDocument/2006/relationships/slide" Target="slides/slide1.xml"/><Relationship Id="rId29" Type="http://schemas.openxmlformats.org/officeDocument/2006/relationships/font" Target="fonts/font13.fntdata"/><Relationship Id="rId28" Type="http://schemas.openxmlformats.org/officeDocument/2006/relationships/font" Target="fonts/font12.fntdata"/><Relationship Id="rId27" Type="http://schemas.openxmlformats.org/officeDocument/2006/relationships/font" Target="fonts/font11.fntdata"/><Relationship Id="rId26" Type="http://schemas.openxmlformats.org/officeDocument/2006/relationships/font" Target="fonts/font10.fntdata"/><Relationship Id="rId25" Type="http://schemas.openxmlformats.org/officeDocument/2006/relationships/font" Target="fonts/font9.fntdata"/><Relationship Id="rId24" Type="http://schemas.openxmlformats.org/officeDocument/2006/relationships/font" Target="fonts/font8.fntdata"/><Relationship Id="rId23" Type="http://schemas.openxmlformats.org/officeDocument/2006/relationships/font" Target="fonts/font7.fntdata"/><Relationship Id="rId22" Type="http://schemas.openxmlformats.org/officeDocument/2006/relationships/font" Target="fonts/font6.fntdata"/><Relationship Id="rId21" Type="http://schemas.openxmlformats.org/officeDocument/2006/relationships/font" Target="fonts/font5.fntdata"/><Relationship Id="rId20" Type="http://schemas.openxmlformats.org/officeDocument/2006/relationships/font" Target="fonts/font4.fntdata"/><Relationship Id="rId2" Type="http://schemas.openxmlformats.org/officeDocument/2006/relationships/theme" Target="theme/theme1.xml"/><Relationship Id="rId19" Type="http://schemas.openxmlformats.org/officeDocument/2006/relationships/font" Target="fonts/font3.fntdata"/><Relationship Id="rId18" Type="http://schemas.openxmlformats.org/officeDocument/2006/relationships/font" Target="fonts/font2.fntdata"/><Relationship Id="rId17" Type="http://schemas.openxmlformats.org/officeDocument/2006/relationships/font" Target="fonts/font1.fntdata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BF4F3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BF4F3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BF4F3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BF4F3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BF4F3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BF4F3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BF4F3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BF4F3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BF4F3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BF4F3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</p:spPr>
        <p:txBody>
          <a:bodyPr/>
          <a:lstStyle/>
          <a:p>
            <a:fld id="{C4883580-D930-4872-A0FD-498F855BAC9E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/>
          <a:lstStyle/>
          <a:p>
            <a:fld id="{40BDA368-954F-430A-B546-85908353106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microsoft.com/office/2007/relationships/hdphoto" Target="../media/image3.wdp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.xml"/><Relationship Id="rId8" Type="http://schemas.openxmlformats.org/officeDocument/2006/relationships/image" Target="../media/image9.png"/><Relationship Id="rId7" Type="http://schemas.openxmlformats.org/officeDocument/2006/relationships/image" Target="../media/image15.svg"/><Relationship Id="rId6" Type="http://schemas.openxmlformats.org/officeDocument/2006/relationships/image" Target="../media/image14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0" Type="http://schemas.openxmlformats.org/officeDocument/2006/relationships/notesSlide" Target="../notesSlides/notesSlide3.xml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22.png"/><Relationship Id="rId7" Type="http://schemas.openxmlformats.org/officeDocument/2006/relationships/image" Target="../media/image21.svg"/><Relationship Id="rId6" Type="http://schemas.openxmlformats.org/officeDocument/2006/relationships/image" Target="../media/image20.svg"/><Relationship Id="rId5" Type="http://schemas.openxmlformats.org/officeDocument/2006/relationships/image" Target="../media/image19.svg"/><Relationship Id="rId4" Type="http://schemas.openxmlformats.org/officeDocument/2006/relationships/image" Target="../media/image18.svg"/><Relationship Id="rId3" Type="http://schemas.openxmlformats.org/officeDocument/2006/relationships/image" Target="../media/image17.svg"/><Relationship Id="rId2" Type="http://schemas.openxmlformats.org/officeDocument/2006/relationships/image" Target="../media/image6.png"/><Relationship Id="rId11" Type="http://schemas.openxmlformats.org/officeDocument/2006/relationships/notesSlide" Target="../notesSlides/notesSlide4.xml"/><Relationship Id="rId10" Type="http://schemas.openxmlformats.org/officeDocument/2006/relationships/slideLayout" Target="../slideLayouts/slideLayout6.xml"/><Relationship Id="rId1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5.xml"/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9.png"/><Relationship Id="rId6" Type="http://schemas.openxmlformats.org/officeDocument/2006/relationships/image" Target="../media/image27.svg"/><Relationship Id="rId5" Type="http://schemas.openxmlformats.org/officeDocument/2006/relationships/image" Target="../media/image26.svg"/><Relationship Id="rId4" Type="http://schemas.openxmlformats.org/officeDocument/2006/relationships/image" Target="../media/image25.svg"/><Relationship Id="rId3" Type="http://schemas.openxmlformats.org/officeDocument/2006/relationships/image" Target="../media/image24.svg"/><Relationship Id="rId2" Type="http://schemas.openxmlformats.org/officeDocument/2006/relationships/image" Target="../media/image6.png"/><Relationship Id="rId1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8.xml"/><Relationship Id="rId4" Type="http://schemas.openxmlformats.org/officeDocument/2006/relationships/image" Target="../media/image9.png"/><Relationship Id="rId3" Type="http://schemas.openxmlformats.org/officeDocument/2006/relationships/image" Target="../media/image30.jpeg"/><Relationship Id="rId2" Type="http://schemas.openxmlformats.org/officeDocument/2006/relationships/image" Target="../media/image29.jpeg"/><Relationship Id="rId1" Type="http://schemas.openxmlformats.org/officeDocument/2006/relationships/image" Target="../media/image28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Picture 98"/>
          <p:cNvPicPr>
            <a:picLocks noChangeAspect="1"/>
          </p:cNvPicPr>
          <p:nvPr/>
        </p:nvPicPr>
        <p:blipFill rotWithShape="1"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35216" t="9860" r="35722" b="40504"/>
          <a:stretch>
            <a:fillRect/>
          </a:stretch>
        </p:blipFill>
        <p:spPr>
          <a:xfrm>
            <a:off x="5529404" y="1214846"/>
            <a:ext cx="3316012" cy="4228679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648327" y="929850"/>
            <a:ext cx="3849327" cy="714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50" b="1" dirty="0">
                <a:latin typeface="Berlin Sans FB Demi" panose="020E0802020502020306" pitchFamily="34" charset="0"/>
                <a:ea typeface="SamsungOne 800" panose="020B0903030303020204" pitchFamily="34" charset="0"/>
              </a:rPr>
              <a:t>CLASH OF THE</a:t>
            </a:r>
            <a:endParaRPr lang="en-US" sz="4050" b="1" dirty="0">
              <a:solidFill>
                <a:srgbClr val="E81B25"/>
              </a:solidFill>
              <a:latin typeface="Berlin Sans FB Demi" panose="020E0802020502020306" pitchFamily="34" charset="0"/>
              <a:ea typeface="SamsungOne 800" panose="020B0903030303020204" pitchFamily="34" charset="0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778503" y="1610119"/>
            <a:ext cx="3301638" cy="119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7200" b="1" dirty="0">
                <a:solidFill>
                  <a:srgbClr val="E81B25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CLAWS</a:t>
            </a:r>
            <a:endParaRPr lang="en-IN" sz="7200" dirty="0">
              <a:latin typeface="Berlin Sans FB Demi" panose="020E0802020502020306" pitchFamily="34" charset="0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543286" y="2774794"/>
            <a:ext cx="3849327" cy="737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100" b="1" dirty="0">
                <a:latin typeface="Berlin Sans FB Demi" panose="020E0802020502020306" pitchFamily="34" charset="0"/>
                <a:ea typeface="SamsungOne 800" panose="020B0903030303020204" pitchFamily="34" charset="0"/>
              </a:rPr>
              <a:t>The </a:t>
            </a:r>
            <a:r>
              <a:rPr lang="en-US" sz="2100" b="1" dirty="0" err="1">
                <a:latin typeface="Berlin Sans FB Demi" panose="020E0802020502020306" pitchFamily="34" charset="0"/>
                <a:ea typeface="SamsungOne 800" panose="020B0903030303020204" pitchFamily="34" charset="0"/>
              </a:rPr>
              <a:t>OpenClaw</a:t>
            </a:r>
            <a:r>
              <a:rPr lang="en-US" sz="2100" b="1" dirty="0">
                <a:latin typeface="Berlin Sans FB Demi" panose="020E0802020502020306" pitchFamily="34" charset="0"/>
                <a:ea typeface="SamsungOne 800" panose="020B0903030303020204" pitchFamily="34" charset="0"/>
              </a:rPr>
              <a:t> Hackathon</a:t>
            </a:r>
            <a:endParaRPr lang="en-US" sz="2100" b="1" dirty="0">
              <a:latin typeface="Berlin Sans FB Demi" panose="020E0802020502020306" pitchFamily="34" charset="0"/>
              <a:ea typeface="SamsungOne 800" panose="020B0903030303020204" pitchFamily="34" charset="0"/>
            </a:endParaRPr>
          </a:p>
          <a:p>
            <a:pPr algn="ctr"/>
            <a:endParaRPr lang="en-US" sz="2100" b="1" dirty="0">
              <a:solidFill>
                <a:srgbClr val="E81B25"/>
              </a:solidFill>
              <a:latin typeface="Berlin Sans FB Demi" panose="020E0802020502020306" pitchFamily="34" charset="0"/>
              <a:ea typeface="SamsungOne 800" panose="020B0903030303020204" pitchFamily="34" charset="0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4572000" y="656816"/>
            <a:ext cx="4202906" cy="444115"/>
            <a:chOff x="1029767" y="998337"/>
            <a:chExt cx="6279990" cy="963265"/>
          </a:xfrm>
        </p:grpSpPr>
        <p:pic>
          <p:nvPicPr>
            <p:cNvPr id="21" name="Picture 20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9767" y="998363"/>
              <a:ext cx="1468718" cy="963239"/>
            </a:xfrm>
            <a:prstGeom prst="rect">
              <a:avLst/>
            </a:prstGeom>
          </p:spPr>
        </p:pic>
        <p:sp>
          <p:nvSpPr>
            <p:cNvPr id="7" name="TextBox 6"/>
            <p:cNvSpPr txBox="1"/>
            <p:nvPr/>
          </p:nvSpPr>
          <p:spPr>
            <a:xfrm>
              <a:off x="2221970" y="998337"/>
              <a:ext cx="5087787" cy="89799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100" b="1" dirty="0">
                  <a:latin typeface="Berlin Sans FB Demi" panose="020E0802020502020306" pitchFamily="34" charset="0"/>
                  <a:ea typeface="SamsungOne 800" panose="020B0903030303020204" pitchFamily="34" charset="0"/>
                </a:rPr>
                <a:t>| Tech Management, SRI-B</a:t>
              </a:r>
              <a:endParaRPr lang="en-US" sz="2100" b="1" dirty="0">
                <a:latin typeface="Berlin Sans FB Demi" panose="020E0802020502020306" pitchFamily="34" charset="0"/>
                <a:ea typeface="SamsungOne 800" panose="020B0903030303020204" pitchFamily="34" charset="0"/>
              </a:endParaRPr>
            </a:p>
          </p:txBody>
        </p:sp>
      </p:grpSp>
      <p:pic>
        <p:nvPicPr>
          <p:cNvPr id="6" name="Picture 5"/>
          <p:cNvPicPr/>
          <p:nvPr/>
        </p:nvPicPr>
        <p:blipFill>
          <a:blip r:embed="rId4"/>
          <a:srcRect t="26910" b="31329"/>
          <a:stretch>
            <a:fillRect/>
          </a:stretch>
        </p:blipFill>
        <p:spPr>
          <a:xfrm>
            <a:off x="0" y="0"/>
            <a:ext cx="2322513" cy="801688"/>
          </a:xfrm>
          <a:prstGeom prst="rect">
            <a:avLst/>
          </a:prstGeom>
        </p:spPr>
      </p:pic>
      <p:sp>
        <p:nvSpPr>
          <p:cNvPr id="10" name="Text Box 9"/>
          <p:cNvSpPr txBox="1"/>
          <p:nvPr/>
        </p:nvSpPr>
        <p:spPr>
          <a:xfrm>
            <a:off x="722709" y="3583384"/>
            <a:ext cx="3669903" cy="9785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1250" b="1">
                <a:latin typeface="Times New Roman" panose="02020603050405020304" charset="0"/>
                <a:cs typeface="Times New Roman" panose="02020603050405020304" charset="0"/>
              </a:rPr>
              <a:t>Team Members:  Name               USN</a:t>
            </a:r>
            <a:endParaRPr lang="en-US" altLang="en-US" sz="125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125"/>
              <a:t>                                </a:t>
            </a:r>
            <a:r>
              <a:rPr lang="en-US" altLang="en-US" sz="1125" b="1">
                <a:latin typeface="Times New Roman" panose="02020603050405020304" charset="0"/>
                <a:cs typeface="Times New Roman" panose="02020603050405020304" charset="0"/>
              </a:rPr>
              <a:t>Kashish Pawar    </a:t>
            </a:r>
            <a:r>
              <a:rPr lang="en-IN" altLang="en-US" sz="1125" b="1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125" b="1">
                <a:latin typeface="Times New Roman" panose="02020603050405020304" charset="0"/>
                <a:cs typeface="Times New Roman" panose="02020603050405020304" charset="0"/>
              </a:rPr>
              <a:t>1MS23EC054</a:t>
            </a:r>
            <a:endParaRPr lang="en-US" altLang="en-US" sz="1125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125" b="1">
                <a:latin typeface="Times New Roman" panose="02020603050405020304" charset="0"/>
                <a:cs typeface="Times New Roman" panose="02020603050405020304" charset="0"/>
              </a:rPr>
              <a:t>                            </a:t>
            </a:r>
            <a:r>
              <a:rPr lang="en-IN" altLang="en-US" sz="1125" b="1">
                <a:latin typeface="Times New Roman" panose="02020603050405020304" charset="0"/>
                <a:cs typeface="Times New Roman" panose="02020603050405020304" charset="0"/>
              </a:rPr>
              <a:t>Nagesh Pranad</a:t>
            </a:r>
            <a:r>
              <a:rPr lang="en-US" altLang="en-US" sz="1125" b="1">
                <a:latin typeface="Times New Roman" panose="02020603050405020304" charset="0"/>
                <a:cs typeface="Times New Roman" panose="02020603050405020304" charset="0"/>
              </a:rPr>
              <a:t>    </a:t>
            </a:r>
            <a:r>
              <a:rPr lang="en-IN" altLang="en-US" sz="1125" b="1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125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1MS23EC0</a:t>
            </a:r>
            <a:r>
              <a:rPr lang="en-IN" altLang="en-US" sz="1125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82</a:t>
            </a:r>
            <a:endParaRPr lang="en-US" altLang="en-US" sz="1125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125" b="1">
                <a:latin typeface="Times New Roman" panose="02020603050405020304" charset="0"/>
                <a:cs typeface="Times New Roman" panose="02020603050405020304" charset="0"/>
              </a:rPr>
              <a:t>                            </a:t>
            </a:r>
            <a:r>
              <a:rPr lang="en-IN" altLang="en-US" sz="1125" b="1">
                <a:latin typeface="Times New Roman" panose="02020603050405020304" charset="0"/>
                <a:cs typeface="Times New Roman" panose="02020603050405020304" charset="0"/>
              </a:rPr>
              <a:t>Praveen C Koni</a:t>
            </a:r>
            <a:r>
              <a:rPr lang="en-US" altLang="en-US" sz="1125" b="1">
                <a:latin typeface="Times New Roman" panose="02020603050405020304" charset="0"/>
                <a:cs typeface="Times New Roman" panose="02020603050405020304" charset="0"/>
              </a:rPr>
              <a:t>  </a:t>
            </a:r>
            <a:r>
              <a:rPr lang="en-IN" altLang="en-US" sz="1125" b="1">
                <a:latin typeface="Times New Roman" panose="02020603050405020304" charset="0"/>
                <a:cs typeface="Times New Roman" panose="02020603050405020304" charset="0"/>
              </a:rPr>
              <a:t>  </a:t>
            </a:r>
            <a:r>
              <a:rPr lang="en-US" altLang="en-US" sz="1125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1MS23EC0</a:t>
            </a:r>
            <a:r>
              <a:rPr lang="en-IN" altLang="en-US" sz="1125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97</a:t>
            </a:r>
            <a:endParaRPr lang="en-US" altLang="en-US" sz="1125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125" b="1">
                <a:latin typeface="Times New Roman" panose="02020603050405020304" charset="0"/>
                <a:cs typeface="Times New Roman" panose="02020603050405020304" charset="0"/>
              </a:rPr>
              <a:t>                            Varshini S           </a:t>
            </a:r>
            <a:r>
              <a:rPr lang="en-IN" altLang="en-US" sz="1125" b="1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125" b="1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IN" altLang="en-US" sz="1125" b="1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125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1MS24EC408</a:t>
            </a:r>
            <a:endParaRPr lang="en-US" altLang="en-US" sz="1125" b="1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9610" y="384870"/>
            <a:ext cx="4051920" cy="40146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5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The Daily Commute Problem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49610" y="832842"/>
            <a:ext cx="1987302" cy="20069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What Goes Wrong Every Day</a:t>
            </a:r>
            <a:endParaRPr lang="en-US" sz="12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7756" y="1212056"/>
            <a:ext cx="192658" cy="19265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7073" y="1208112"/>
            <a:ext cx="2093268" cy="20069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Manual Comparison Overload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867073" y="1478607"/>
            <a:ext cx="2233761" cy="78372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anose="00000800000000000000" pitchFamily="34" charset="0"/>
                <a:ea typeface="Martel Sans" panose="00000800000000000000" pitchFamily="34" charset="-122"/>
                <a:cs typeface="Martel Sans" panose="00000800000000000000" pitchFamily="34" charset="-120"/>
              </a:rPr>
              <a:t>Commuters manually compare fares, routes, and travel time before every single trip — a repetitive, exhausting process.</a:t>
            </a:r>
            <a:endParaRPr lang="en-US" sz="10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94459" y="1212056"/>
            <a:ext cx="192658" cy="19265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663776" y="1208112"/>
            <a:ext cx="2093119" cy="20069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Apps Don't Talk to Each Other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3663776" y="1478607"/>
            <a:ext cx="2233836" cy="58779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anose="00000800000000000000" pitchFamily="34" charset="0"/>
                <a:ea typeface="Martel Sans" panose="00000800000000000000" pitchFamily="34" charset="-122"/>
                <a:cs typeface="Martel Sans" panose="00000800000000000000" pitchFamily="34" charset="-120"/>
              </a:rPr>
              <a:t>Calendar apps and transport apps exist in silos — no integration means no smart recommendations.</a:t>
            </a:r>
            <a:endParaRPr lang="en-US" sz="10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1238" y="1212056"/>
            <a:ext cx="192658" cy="19265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460554" y="1208112"/>
            <a:ext cx="1605930" cy="20069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Last-Minute Chaos</a:t>
            </a:r>
            <a:endParaRPr lang="en-US" sz="1250" dirty="0"/>
          </a:p>
        </p:txBody>
      </p:sp>
      <p:sp>
        <p:nvSpPr>
          <p:cNvPr id="12" name="Text 7"/>
          <p:cNvSpPr/>
          <p:nvPr/>
        </p:nvSpPr>
        <p:spPr>
          <a:xfrm>
            <a:off x="6460554" y="1478607"/>
            <a:ext cx="2233761" cy="58779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anose="00000800000000000000" pitchFamily="34" charset="0"/>
                <a:ea typeface="Martel Sans" panose="00000800000000000000" pitchFamily="34" charset="-122"/>
                <a:cs typeface="Martel Sans" panose="00000800000000000000" pitchFamily="34" charset="-120"/>
              </a:rPr>
              <a:t>Rushed decisions lead to missed meetings, wasted money, and unnecessary daily stress.</a:t>
            </a:r>
            <a:endParaRPr lang="en-US" sz="1000" dirty="0"/>
          </a:p>
        </p:txBody>
      </p:sp>
      <p:sp>
        <p:nvSpPr>
          <p:cNvPr id="13" name="Text 8"/>
          <p:cNvSpPr/>
          <p:nvPr/>
        </p:nvSpPr>
        <p:spPr>
          <a:xfrm>
            <a:off x="449610" y="2436912"/>
            <a:ext cx="1605930" cy="20069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The Cost of Inaction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449610" y="2876401"/>
            <a:ext cx="4049613" cy="42393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3300"/>
              </a:lnSpc>
              <a:buNone/>
            </a:pPr>
            <a:r>
              <a:rPr lang="en-US" sz="33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45+</a:t>
            </a:r>
            <a:endParaRPr lang="en-US" sz="3300" dirty="0"/>
          </a:p>
        </p:txBody>
      </p:sp>
      <p:sp>
        <p:nvSpPr>
          <p:cNvPr id="15" name="Text 10"/>
          <p:cNvSpPr/>
          <p:nvPr/>
        </p:nvSpPr>
        <p:spPr>
          <a:xfrm>
            <a:off x="1671414" y="3451845"/>
            <a:ext cx="1605930" cy="20069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Minutes Lost Daily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449610" y="3722340"/>
            <a:ext cx="4049613" cy="3918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anose="00000800000000000000" pitchFamily="34" charset="0"/>
                <a:ea typeface="Martel Sans" panose="00000800000000000000" pitchFamily="34" charset="-122"/>
                <a:cs typeface="Martel Sans" panose="00000800000000000000" pitchFamily="34" charset="-120"/>
              </a:rPr>
              <a:t>Wasted on travel decisions alone — time that could be spent on work or rest.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4644703" y="2876401"/>
            <a:ext cx="4049688" cy="42393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3300"/>
              </a:lnSpc>
              <a:buNone/>
            </a:pPr>
            <a:r>
              <a:rPr lang="en-US" sz="33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70%</a:t>
            </a:r>
            <a:endParaRPr lang="en-US" sz="3300" dirty="0"/>
          </a:p>
        </p:txBody>
      </p:sp>
      <p:sp>
        <p:nvSpPr>
          <p:cNvPr id="18" name="Text 13"/>
          <p:cNvSpPr/>
          <p:nvPr/>
        </p:nvSpPr>
        <p:spPr>
          <a:xfrm>
            <a:off x="5866581" y="3451845"/>
            <a:ext cx="1605930" cy="20069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Avoidable Overspend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4644703" y="3722340"/>
            <a:ext cx="4049688" cy="3918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anose="00000800000000000000" pitchFamily="34" charset="0"/>
                <a:ea typeface="Martel Sans" panose="00000800000000000000" pitchFamily="34" charset="-122"/>
                <a:cs typeface="Martel Sans" panose="00000800000000000000" pitchFamily="34" charset="-120"/>
              </a:rPr>
              <a:t>Taking the wrong transport choice consistently costs more than necessary.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449610" y="4245173"/>
            <a:ext cx="8244780" cy="513383"/>
          </a:xfrm>
          <a:prstGeom prst="roundRect">
            <a:avLst>
              <a:gd name="adj" fmla="val 10511"/>
            </a:avLst>
          </a:prstGeom>
          <a:solidFill>
            <a:srgbClr val="B6D6FC"/>
          </a:solidFill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048" y="4421832"/>
            <a:ext cx="160586" cy="12843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67073" y="4393629"/>
            <a:ext cx="7698879" cy="19593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Martel Sans" panose="00000800000000000000" pitchFamily="34" charset="0"/>
                <a:ea typeface="Martel Sans" panose="00000800000000000000" pitchFamily="34" charset="-122"/>
                <a:cs typeface="Martel Sans" panose="00000800000000000000" pitchFamily="34" charset="-120"/>
              </a:rPr>
              <a:t>Affects working professionals, students, and daily urban commuters across Bangalore and beyond.</a:t>
            </a:r>
            <a:endParaRPr lang="en-US" sz="1000" dirty="0"/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6675" y="4876165"/>
            <a:ext cx="1457325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6393" y="363066"/>
            <a:ext cx="3155603" cy="38070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Existing Tools Fall Short</a:t>
            </a:r>
            <a:endParaRPr lang="en-US" sz="2350" dirty="0"/>
          </a:p>
        </p:txBody>
      </p:sp>
      <p:sp>
        <p:nvSpPr>
          <p:cNvPr id="3" name="Text 1"/>
          <p:cNvSpPr/>
          <p:nvPr/>
        </p:nvSpPr>
        <p:spPr>
          <a:xfrm>
            <a:off x="426393" y="953095"/>
            <a:ext cx="8291215" cy="18119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50" dirty="0">
                <a:solidFill>
                  <a:srgbClr val="2C3249"/>
                </a:solidFill>
                <a:latin typeface="Martel Sans" panose="00000800000000000000" pitchFamily="34" charset="0"/>
                <a:ea typeface="Martel Sans" panose="00000800000000000000" pitchFamily="34" charset="-122"/>
                <a:cs typeface="Martel Sans" panose="00000800000000000000" pitchFamily="34" charset="-120"/>
              </a:rPr>
              <a:t>Every popular app solves one piece of the puzzle — none connect your schedule to your commute.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26393" y="1369740"/>
            <a:ext cx="3997003" cy="2153841"/>
          </a:xfrm>
          <a:prstGeom prst="roundRect">
            <a:avLst>
              <a:gd name="adj" fmla="val 2376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53045" y="1442070"/>
            <a:ext cx="1747689" cy="18119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50" b="1" dirty="0">
                <a:solidFill>
                  <a:srgbClr val="2C3249"/>
                </a:solidFill>
                <a:latin typeface="Martel Sans" panose="00000800000000000000" pitchFamily="34" charset="0"/>
                <a:ea typeface="Martel Sans" panose="00000800000000000000" pitchFamily="34" charset="-122"/>
                <a:cs typeface="Martel Sans" panose="00000800000000000000" pitchFamily="34" charset="-120"/>
              </a:rPr>
              <a:t>Tool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2549128" y="1442070"/>
            <a:ext cx="1747689" cy="18119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50" b="1" dirty="0">
                <a:solidFill>
                  <a:srgbClr val="2C3249"/>
                </a:solidFill>
                <a:latin typeface="Martel Sans" panose="00000800000000000000" pitchFamily="34" charset="0"/>
                <a:ea typeface="Martel Sans" panose="00000800000000000000" pitchFamily="34" charset="-122"/>
                <a:cs typeface="Martel Sans" panose="00000800000000000000" pitchFamily="34" charset="-120"/>
              </a:rPr>
              <a:t>Limitation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53045" y="1763167"/>
            <a:ext cx="1747689" cy="18119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50" dirty="0">
                <a:solidFill>
                  <a:srgbClr val="2C3249"/>
                </a:solidFill>
                <a:latin typeface="Martel Sans" panose="00000800000000000000" pitchFamily="34" charset="0"/>
                <a:ea typeface="Martel Sans" panose="00000800000000000000" pitchFamily="34" charset="-122"/>
                <a:cs typeface="Martel Sans" panose="00000800000000000000" pitchFamily="34" charset="-120"/>
              </a:rPr>
              <a:t>Google Maps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549128" y="1763167"/>
            <a:ext cx="1747689" cy="3623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50" dirty="0">
                <a:solidFill>
                  <a:srgbClr val="2C3249"/>
                </a:solidFill>
                <a:latin typeface="Martel Sans" panose="00000800000000000000" pitchFamily="34" charset="0"/>
                <a:ea typeface="Martel Sans" panose="00000800000000000000" pitchFamily="34" charset="-122"/>
                <a:cs typeface="Martel Sans" panose="00000800000000000000" pitchFamily="34" charset="-120"/>
              </a:rPr>
              <a:t>Directions only — no decisions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53045" y="2265462"/>
            <a:ext cx="1747689" cy="18119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50" dirty="0">
                <a:solidFill>
                  <a:srgbClr val="2C3249"/>
                </a:solidFill>
                <a:latin typeface="Martel Sans" panose="00000800000000000000" pitchFamily="34" charset="0"/>
                <a:ea typeface="Martel Sans" panose="00000800000000000000" pitchFamily="34" charset="-122"/>
                <a:cs typeface="Martel Sans" panose="00000800000000000000" pitchFamily="34" charset="-120"/>
              </a:rPr>
              <a:t>Ola / Uber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549128" y="2265462"/>
            <a:ext cx="1747689" cy="18119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50" dirty="0">
                <a:solidFill>
                  <a:srgbClr val="2C3249"/>
                </a:solidFill>
                <a:latin typeface="Martel Sans" panose="00000800000000000000" pitchFamily="34" charset="0"/>
                <a:ea typeface="Martel Sans" panose="00000800000000000000" pitchFamily="34" charset="-122"/>
                <a:cs typeface="Martel Sans" panose="00000800000000000000" pitchFamily="34" charset="-120"/>
              </a:rPr>
              <a:t>Books cabs — no calendar link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53045" y="2586558"/>
            <a:ext cx="1747689" cy="18119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50" dirty="0">
                <a:solidFill>
                  <a:srgbClr val="2C3249"/>
                </a:solidFill>
                <a:latin typeface="Martel Sans" panose="00000800000000000000" pitchFamily="34" charset="0"/>
                <a:ea typeface="Martel Sans" panose="00000800000000000000" pitchFamily="34" charset="-122"/>
                <a:cs typeface="Martel Sans" panose="00000800000000000000" pitchFamily="34" charset="-120"/>
              </a:rPr>
              <a:t>Metro App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549128" y="2586558"/>
            <a:ext cx="1747689" cy="3623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50" dirty="0">
                <a:solidFill>
                  <a:srgbClr val="2C3249"/>
                </a:solidFill>
                <a:latin typeface="Martel Sans" panose="00000800000000000000" pitchFamily="34" charset="0"/>
                <a:ea typeface="Martel Sans" panose="00000800000000000000" pitchFamily="34" charset="-122"/>
                <a:cs typeface="Martel Sans" panose="00000800000000000000" pitchFamily="34" charset="-120"/>
              </a:rPr>
              <a:t>Shows schedule — no comparison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53045" y="3088853"/>
            <a:ext cx="1747689" cy="18119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50" dirty="0">
                <a:solidFill>
                  <a:srgbClr val="2C3249"/>
                </a:solidFill>
                <a:latin typeface="Martel Sans" panose="00000800000000000000" pitchFamily="34" charset="0"/>
                <a:ea typeface="Martel Sans" panose="00000800000000000000" pitchFamily="34" charset="-122"/>
                <a:cs typeface="Martel Sans" panose="00000800000000000000" pitchFamily="34" charset="-120"/>
              </a:rPr>
              <a:t>Calendar Apps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549128" y="3088853"/>
            <a:ext cx="1747689" cy="3623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50" dirty="0">
                <a:solidFill>
                  <a:srgbClr val="2C3249"/>
                </a:solidFill>
                <a:latin typeface="Martel Sans" panose="00000800000000000000" pitchFamily="34" charset="0"/>
                <a:ea typeface="Martel Sans" panose="00000800000000000000" pitchFamily="34" charset="-122"/>
                <a:cs typeface="Martel Sans" panose="00000800000000000000" pitchFamily="34" charset="-120"/>
              </a:rPr>
              <a:t>Shows events — no transport link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725367" y="1356643"/>
            <a:ext cx="1522884" cy="19035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The Critical Gaps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25367" y="1664717"/>
            <a:ext cx="3997003" cy="929580"/>
          </a:xfrm>
          <a:prstGeom prst="roundRect">
            <a:avLst>
              <a:gd name="adj" fmla="val 7378"/>
            </a:avLst>
          </a:prstGeom>
          <a:solidFill>
            <a:srgbClr val="FFFFFF"/>
          </a:solidFill>
          <a:ln w="14288">
            <a:solidFill>
              <a:srgbClr val="C5D2C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11080" y="1664717"/>
            <a:ext cx="57150" cy="929580"/>
          </a:xfrm>
          <a:prstGeom prst="roundRect">
            <a:avLst>
              <a:gd name="adj" fmla="val 89535"/>
            </a:avLst>
          </a:prstGeom>
          <a:solidFill>
            <a:srgbClr val="437066"/>
          </a:solidFill>
        </p:spPr>
      </p:sp>
      <p:sp>
        <p:nvSpPr>
          <p:cNvPr id="18" name="Text 16"/>
          <p:cNvSpPr/>
          <p:nvPr/>
        </p:nvSpPr>
        <p:spPr>
          <a:xfrm>
            <a:off x="4904333" y="1800820"/>
            <a:ext cx="1984623" cy="19035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No Calendar-Aware Transport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904333" y="2095798"/>
            <a:ext cx="3681933" cy="3623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50" dirty="0">
                <a:solidFill>
                  <a:srgbClr val="2C3249"/>
                </a:solidFill>
                <a:latin typeface="Martel Sans" panose="00000800000000000000" pitchFamily="34" charset="0"/>
                <a:ea typeface="Martel Sans" panose="00000800000000000000" pitchFamily="34" charset="-122"/>
                <a:cs typeface="Martel Sans" panose="00000800000000000000" pitchFamily="34" charset="-120"/>
              </a:rPr>
              <a:t>Zero tools read your calendar and suggest the best mode of travel automatically.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25367" y="2698924"/>
            <a:ext cx="3997003" cy="929580"/>
          </a:xfrm>
          <a:prstGeom prst="roundRect">
            <a:avLst>
              <a:gd name="adj" fmla="val 7378"/>
            </a:avLst>
          </a:prstGeom>
          <a:solidFill>
            <a:srgbClr val="FFFFFF"/>
          </a:solidFill>
          <a:ln w="14288">
            <a:solidFill>
              <a:srgbClr val="C5D2C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11080" y="2698924"/>
            <a:ext cx="57150" cy="929580"/>
          </a:xfrm>
          <a:prstGeom prst="roundRect">
            <a:avLst>
              <a:gd name="adj" fmla="val 89535"/>
            </a:avLst>
          </a:prstGeom>
          <a:solidFill>
            <a:srgbClr val="437066"/>
          </a:solidFill>
        </p:spPr>
      </p:sp>
      <p:sp>
        <p:nvSpPr>
          <p:cNvPr id="22" name="Text 20"/>
          <p:cNvSpPr/>
          <p:nvPr/>
        </p:nvSpPr>
        <p:spPr>
          <a:xfrm>
            <a:off x="4904333" y="2835027"/>
            <a:ext cx="1963787" cy="19035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No Side-by-Side Comparison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904333" y="3130004"/>
            <a:ext cx="3681933" cy="3623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50" dirty="0">
                <a:solidFill>
                  <a:srgbClr val="2C3249"/>
                </a:solidFill>
                <a:latin typeface="Martel Sans" panose="00000800000000000000" pitchFamily="34" charset="0"/>
                <a:ea typeface="Martel Sans" panose="00000800000000000000" pitchFamily="34" charset="-122"/>
                <a:cs typeface="Martel Sans" panose="00000800000000000000" pitchFamily="34" charset="-120"/>
              </a:rPr>
              <a:t>Metro vs Cab — fare, time, and availability in one unified view doesn't exist yet.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25367" y="3733130"/>
            <a:ext cx="3997003" cy="929580"/>
          </a:xfrm>
          <a:prstGeom prst="roundRect">
            <a:avLst>
              <a:gd name="adj" fmla="val 7378"/>
            </a:avLst>
          </a:prstGeom>
          <a:solidFill>
            <a:srgbClr val="FFFFFF"/>
          </a:solidFill>
          <a:ln w="14288">
            <a:solidFill>
              <a:srgbClr val="C5D2C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11080" y="3733130"/>
            <a:ext cx="57150" cy="929580"/>
          </a:xfrm>
          <a:prstGeom prst="roundRect">
            <a:avLst>
              <a:gd name="adj" fmla="val 89535"/>
            </a:avLst>
          </a:prstGeom>
          <a:solidFill>
            <a:srgbClr val="437066"/>
          </a:solidFill>
        </p:spPr>
      </p:sp>
      <p:sp>
        <p:nvSpPr>
          <p:cNvPr id="26" name="Text 24"/>
          <p:cNvSpPr/>
          <p:nvPr/>
        </p:nvSpPr>
        <p:spPr>
          <a:xfrm>
            <a:off x="4904333" y="3869234"/>
            <a:ext cx="1590452" cy="19035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No "Leave By" Guidance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904333" y="4164211"/>
            <a:ext cx="3681933" cy="3623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50" dirty="0">
                <a:solidFill>
                  <a:srgbClr val="2C3249"/>
                </a:solidFill>
                <a:latin typeface="Martel Sans" panose="00000800000000000000" pitchFamily="34" charset="0"/>
                <a:ea typeface="Martel Sans" panose="00000800000000000000" pitchFamily="34" charset="-122"/>
                <a:cs typeface="Martel Sans" panose="00000800000000000000" pitchFamily="34" charset="-120"/>
              </a:rPr>
              <a:t>No app tells you exactly when to leave based on your next event — with offline fallback.</a:t>
            </a:r>
            <a:endParaRPr lang="en-US" sz="950" dirty="0"/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6675" y="4869180"/>
            <a:ext cx="1457325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4489" y="312837"/>
            <a:ext cx="824582" cy="197644"/>
          </a:xfrm>
          <a:prstGeom prst="roundRect">
            <a:avLst>
              <a:gd name="adj" fmla="val 19205"/>
            </a:avLst>
          </a:prstGeom>
          <a:solidFill>
            <a:srgbClr val="DFECE9"/>
          </a:solidFill>
        </p:spPr>
      </p:sp>
      <p:sp>
        <p:nvSpPr>
          <p:cNvPr id="3" name="Text 1"/>
          <p:cNvSpPr/>
          <p:nvPr/>
        </p:nvSpPr>
        <p:spPr>
          <a:xfrm>
            <a:off x="742206" y="346695"/>
            <a:ext cx="689149" cy="12992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00" dirty="0">
                <a:solidFill>
                  <a:srgbClr val="2C3249"/>
                </a:solidFill>
                <a:latin typeface="Martel Sans" panose="00000800000000000000" pitchFamily="34" charset="0"/>
                <a:ea typeface="Martel Sans" panose="00000800000000000000" pitchFamily="34" charset="-122"/>
                <a:cs typeface="Martel Sans" panose="00000800000000000000" pitchFamily="34" charset="-120"/>
              </a:rPr>
              <a:t>OUR SOLUTION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74489" y="546422"/>
            <a:ext cx="3463975" cy="35294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Introducing CommuteMate+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74489" y="1034355"/>
            <a:ext cx="7794947" cy="32474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50" dirty="0">
                <a:solidFill>
                  <a:srgbClr val="2C3249"/>
                </a:solidFill>
                <a:latin typeface="Martel Sans" panose="00000800000000000000" pitchFamily="34" charset="0"/>
                <a:ea typeface="Martel Sans" panose="00000800000000000000" pitchFamily="34" charset="-122"/>
                <a:cs typeface="Martel Sans" panose="00000800000000000000" pitchFamily="34" charset="-120"/>
              </a:rPr>
              <a:t>A Python-based intelligent system that reads your next calendar event and automatically recommends the best way to travel — Metro or Cab — with zero manual input.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74489" y="1460302"/>
            <a:ext cx="3852490" cy="1076176"/>
          </a:xfrm>
          <a:prstGeom prst="roundRect">
            <a:avLst>
              <a:gd name="adj" fmla="val 4409"/>
            </a:avLst>
          </a:prstGeom>
          <a:solidFill>
            <a:srgbClr val="DFECE9"/>
          </a:solidFill>
          <a:ln w="4763">
            <a:solidFill>
              <a:srgbClr val="C5D2C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2212" y="1578025"/>
            <a:ext cx="338882" cy="338882"/>
          </a:xfrm>
          <a:prstGeom prst="roundRect">
            <a:avLst>
              <a:gd name="adj" fmla="val 16862591"/>
            </a:avLst>
          </a:prstGeom>
          <a:solidFill>
            <a:srgbClr val="437066"/>
          </a:solidFill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85379" y="1671191"/>
            <a:ext cx="152474" cy="15247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92212" y="2006873"/>
            <a:ext cx="1412081" cy="1765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Calendar-Aware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92212" y="2237333"/>
            <a:ext cx="3617044" cy="18142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50" dirty="0">
                <a:solidFill>
                  <a:srgbClr val="2C3249"/>
                </a:solidFill>
                <a:latin typeface="Martel Sans" panose="00000800000000000000" pitchFamily="34" charset="0"/>
                <a:ea typeface="Martel Sans" panose="00000800000000000000" pitchFamily="34" charset="-122"/>
                <a:cs typeface="Martel Sans" panose="00000800000000000000" pitchFamily="34" charset="-120"/>
              </a:rPr>
              <a:t>Auto-reads next upcoming event from </a:t>
            </a:r>
            <a:r>
              <a:rPr lang="en-US" sz="850" dirty="0">
                <a:solidFill>
                  <a:srgbClr val="2C3249"/>
                </a:solidFill>
                <a:highlight>
                  <a:srgbClr val="F2F2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events.json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616946" y="1460302"/>
            <a:ext cx="3852490" cy="1076176"/>
          </a:xfrm>
          <a:prstGeom prst="roundRect">
            <a:avLst>
              <a:gd name="adj" fmla="val 4409"/>
            </a:avLst>
          </a:prstGeom>
          <a:solidFill>
            <a:srgbClr val="DFECE9"/>
          </a:solidFill>
          <a:ln w="4763">
            <a:solidFill>
              <a:srgbClr val="C5D2C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734669" y="1578025"/>
            <a:ext cx="338882" cy="338882"/>
          </a:xfrm>
          <a:prstGeom prst="roundRect">
            <a:avLst>
              <a:gd name="adj" fmla="val 16862591"/>
            </a:avLst>
          </a:prstGeom>
          <a:solidFill>
            <a:srgbClr val="437066"/>
          </a:solidFill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27836" y="1671191"/>
            <a:ext cx="152474" cy="15247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734669" y="2006873"/>
            <a:ext cx="1412081" cy="1765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Smart Geocoding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4734669" y="2237333"/>
            <a:ext cx="3617044" cy="16237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50" dirty="0">
                <a:solidFill>
                  <a:srgbClr val="2C3249"/>
                </a:solidFill>
                <a:latin typeface="Martel Sans" panose="00000800000000000000" pitchFamily="34" charset="0"/>
                <a:ea typeface="Martel Sans" panose="00000800000000000000" pitchFamily="34" charset="-122"/>
                <a:cs typeface="Martel Sans" panose="00000800000000000000" pitchFamily="34" charset="-120"/>
              </a:rPr>
              <a:t>OpenStreetMap API with JSON fallback for 100% uptime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674489" y="2626444"/>
            <a:ext cx="3852490" cy="1057126"/>
          </a:xfrm>
          <a:prstGeom prst="roundRect">
            <a:avLst>
              <a:gd name="adj" fmla="val 4488"/>
            </a:avLst>
          </a:prstGeom>
          <a:solidFill>
            <a:srgbClr val="DFECE9"/>
          </a:solidFill>
          <a:ln w="4763">
            <a:solidFill>
              <a:srgbClr val="C5D2CF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92212" y="2744167"/>
            <a:ext cx="338882" cy="338882"/>
          </a:xfrm>
          <a:prstGeom prst="roundRect">
            <a:avLst>
              <a:gd name="adj" fmla="val 16862591"/>
            </a:avLst>
          </a:prstGeom>
          <a:solidFill>
            <a:srgbClr val="437066"/>
          </a:solidFill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5379" y="2837334"/>
            <a:ext cx="152474" cy="15247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92212" y="3173016"/>
            <a:ext cx="1412081" cy="1765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Haversine Distance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792212" y="3403476"/>
            <a:ext cx="3617044" cy="16237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50" dirty="0">
                <a:solidFill>
                  <a:srgbClr val="2C3249"/>
                </a:solidFill>
                <a:latin typeface="Martel Sans" panose="00000800000000000000" pitchFamily="34" charset="0"/>
                <a:ea typeface="Martel Sans" panose="00000800000000000000" pitchFamily="34" charset="-122"/>
                <a:cs typeface="Martel Sans" panose="00000800000000000000" pitchFamily="34" charset="-120"/>
              </a:rPr>
              <a:t>Precise route distance calculated mathematically</a:t>
            </a:r>
            <a:endParaRPr lang="en-US" sz="850" dirty="0"/>
          </a:p>
        </p:txBody>
      </p:sp>
      <p:sp>
        <p:nvSpPr>
          <p:cNvPr id="21" name="Shape 16"/>
          <p:cNvSpPr/>
          <p:nvPr/>
        </p:nvSpPr>
        <p:spPr>
          <a:xfrm>
            <a:off x="4616946" y="2626444"/>
            <a:ext cx="3852490" cy="1057126"/>
          </a:xfrm>
          <a:prstGeom prst="roundRect">
            <a:avLst>
              <a:gd name="adj" fmla="val 4488"/>
            </a:avLst>
          </a:prstGeom>
          <a:solidFill>
            <a:srgbClr val="DFECE9"/>
          </a:solidFill>
          <a:ln w="4763">
            <a:solidFill>
              <a:srgbClr val="C5D2CF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4734669" y="2744167"/>
            <a:ext cx="338882" cy="338882"/>
          </a:xfrm>
          <a:prstGeom prst="roundRect">
            <a:avLst>
              <a:gd name="adj" fmla="val 16862591"/>
            </a:avLst>
          </a:prstGeom>
          <a:solidFill>
            <a:srgbClr val="437066"/>
          </a:solidFill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27836" y="2837334"/>
            <a:ext cx="152474" cy="15247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4734669" y="3173016"/>
            <a:ext cx="1412081" cy="1765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Auto-Decision Engine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4734669" y="3403476"/>
            <a:ext cx="3617044" cy="16237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50" dirty="0">
                <a:solidFill>
                  <a:srgbClr val="2C3249"/>
                </a:solidFill>
                <a:latin typeface="Martel Sans" panose="00000800000000000000" pitchFamily="34" charset="0"/>
                <a:ea typeface="Martel Sans" panose="00000800000000000000" pitchFamily="34" charset="-122"/>
                <a:cs typeface="Martel Sans" panose="00000800000000000000" pitchFamily="34" charset="-120"/>
              </a:rPr>
              <a:t>Compares Metro vs Cab — selects by Time, then Cost</a:t>
            </a:r>
            <a:endParaRPr lang="en-US" sz="850" dirty="0"/>
          </a:p>
        </p:txBody>
      </p:sp>
      <p:sp>
        <p:nvSpPr>
          <p:cNvPr id="26" name="Shape 20"/>
          <p:cNvSpPr/>
          <p:nvPr/>
        </p:nvSpPr>
        <p:spPr>
          <a:xfrm>
            <a:off x="674489" y="3773537"/>
            <a:ext cx="3852490" cy="1057126"/>
          </a:xfrm>
          <a:prstGeom prst="roundRect">
            <a:avLst>
              <a:gd name="adj" fmla="val 4488"/>
            </a:avLst>
          </a:prstGeom>
          <a:solidFill>
            <a:srgbClr val="DFECE9"/>
          </a:solidFill>
          <a:ln w="4763">
            <a:solidFill>
              <a:srgbClr val="C5D2CF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792212" y="3891260"/>
            <a:ext cx="338882" cy="338882"/>
          </a:xfrm>
          <a:prstGeom prst="roundRect">
            <a:avLst>
              <a:gd name="adj" fmla="val 16862591"/>
            </a:avLst>
          </a:prstGeom>
          <a:solidFill>
            <a:srgbClr val="437066"/>
          </a:solidFill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85379" y="3984427"/>
            <a:ext cx="152474" cy="152474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92212" y="4320108"/>
            <a:ext cx="1412081" cy="1765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"Leave By" Alert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792212" y="4550569"/>
            <a:ext cx="3617044" cy="16237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50" dirty="0">
                <a:solidFill>
                  <a:srgbClr val="2C3249"/>
                </a:solidFill>
                <a:latin typeface="Martel Sans" panose="00000800000000000000" pitchFamily="34" charset="0"/>
                <a:ea typeface="Martel Sans" panose="00000800000000000000" pitchFamily="34" charset="-122"/>
                <a:cs typeface="Martel Sans" panose="00000800000000000000" pitchFamily="34" charset="-120"/>
              </a:rPr>
              <a:t>Tells you exactly when to head out — never be late again</a:t>
            </a:r>
            <a:endParaRPr lang="en-US" sz="850" dirty="0"/>
          </a:p>
        </p:txBody>
      </p:sp>
      <p:sp>
        <p:nvSpPr>
          <p:cNvPr id="31" name="Shape 24"/>
          <p:cNvSpPr/>
          <p:nvPr/>
        </p:nvSpPr>
        <p:spPr>
          <a:xfrm>
            <a:off x="4616946" y="3773537"/>
            <a:ext cx="3852490" cy="1057126"/>
          </a:xfrm>
          <a:prstGeom prst="roundRect">
            <a:avLst>
              <a:gd name="adj" fmla="val 4488"/>
            </a:avLst>
          </a:prstGeom>
          <a:solidFill>
            <a:srgbClr val="DFECE9"/>
          </a:solidFill>
          <a:ln w="4763">
            <a:solidFill>
              <a:srgbClr val="C5D2CF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4734669" y="3891260"/>
            <a:ext cx="338882" cy="338882"/>
          </a:xfrm>
          <a:prstGeom prst="roundRect">
            <a:avLst>
              <a:gd name="adj" fmla="val 16862591"/>
            </a:avLst>
          </a:prstGeom>
          <a:solidFill>
            <a:srgbClr val="437066"/>
          </a:solidFill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27836" y="3984427"/>
            <a:ext cx="152474" cy="152474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4734669" y="4320108"/>
            <a:ext cx="1412081" cy="1765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OTP Booking Sim</a:t>
            </a:r>
            <a:endParaRPr lang="en-US" sz="1100" dirty="0"/>
          </a:p>
        </p:txBody>
      </p:sp>
      <p:sp>
        <p:nvSpPr>
          <p:cNvPr id="35" name="Text 27"/>
          <p:cNvSpPr/>
          <p:nvPr/>
        </p:nvSpPr>
        <p:spPr>
          <a:xfrm>
            <a:off x="4734669" y="4550569"/>
            <a:ext cx="3617044" cy="16237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50" dirty="0">
                <a:solidFill>
                  <a:srgbClr val="2C3249"/>
                </a:solidFill>
                <a:latin typeface="Martel Sans" panose="00000800000000000000" pitchFamily="34" charset="0"/>
                <a:ea typeface="Martel Sans" panose="00000800000000000000" pitchFamily="34" charset="-122"/>
                <a:cs typeface="Martel Sans" panose="00000800000000000000" pitchFamily="34" charset="-120"/>
              </a:rPr>
              <a:t>Simulates booking with a generated confirmation code</a:t>
            </a:r>
            <a:endParaRPr lang="en-US" sz="850" dirty="0"/>
          </a:p>
        </p:txBody>
      </p:sp>
      <p:pic>
        <p:nvPicPr>
          <p:cNvPr id="36" name="Picture 3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86675" y="4869180"/>
            <a:ext cx="1457325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8066" y="362322"/>
            <a:ext cx="3365376" cy="35994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How It Works — End to End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598066" y="909414"/>
            <a:ext cx="7947794" cy="16698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00" dirty="0">
                <a:solidFill>
                  <a:srgbClr val="2C3249"/>
                </a:solidFill>
                <a:latin typeface="Martel Sans" panose="00000800000000000000" pitchFamily="34" charset="0"/>
                <a:ea typeface="Martel Sans" panose="00000800000000000000" pitchFamily="34" charset="-122"/>
                <a:cs typeface="Martel Sans" panose="00000800000000000000" pitchFamily="34" charset="-120"/>
              </a:rPr>
              <a:t>From your calendar event to a confirmed recommendation in seconds.</a:t>
            </a:r>
            <a:endParaRPr lang="en-US" sz="9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5314" y="1181621"/>
            <a:ext cx="7693223" cy="2886819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95382" y="1916945"/>
            <a:ext cx="397382" cy="39738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941339" y="3255875"/>
            <a:ext cx="1160355" cy="44705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Compare Options</a:t>
            </a:r>
            <a:endParaRPr lang="en-US" sz="14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40591" y="1917691"/>
            <a:ext cx="397382" cy="39738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478974" y="3367638"/>
            <a:ext cx="1160355" cy="22352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Metro Check</a:t>
            </a:r>
            <a:endParaRPr lang="en-US" sz="14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86173" y="1917691"/>
            <a:ext cx="397382" cy="397382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4024556" y="3367638"/>
            <a:ext cx="1160356" cy="22352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Distance</a:t>
            </a:r>
            <a:endParaRPr lang="en-US" sz="14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931755" y="1917691"/>
            <a:ext cx="397382" cy="397382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2570138" y="3367638"/>
            <a:ext cx="1160355" cy="22352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Geocode</a:t>
            </a:r>
            <a:endParaRPr lang="en-US" sz="1400" dirty="0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69390" y="1917691"/>
            <a:ext cx="397382" cy="397382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1083929" y="3367638"/>
            <a:ext cx="1160355" cy="22352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Pick Event</a:t>
            </a:r>
            <a:endParaRPr lang="en-US" sz="1400" dirty="0"/>
          </a:p>
        </p:txBody>
      </p:sp>
      <p:sp>
        <p:nvSpPr>
          <p:cNvPr id="15" name="Shape 7"/>
          <p:cNvSpPr/>
          <p:nvPr/>
        </p:nvSpPr>
        <p:spPr>
          <a:xfrm>
            <a:off x="598066" y="4173662"/>
            <a:ext cx="7947794" cy="607442"/>
          </a:xfrm>
          <a:prstGeom prst="roundRect">
            <a:avLst>
              <a:gd name="adj" fmla="val 7964"/>
            </a:avLst>
          </a:prstGeom>
          <a:solidFill>
            <a:srgbClr val="B6FCB8"/>
          </a:solidFill>
        </p:spPr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3184" y="4326285"/>
            <a:ext cx="143917" cy="115119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972220" y="4295924"/>
            <a:ext cx="7458521" cy="3434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Martel Sans" panose="00000800000000000000" pitchFamily="34" charset="0"/>
                <a:ea typeface="Martel Sans" panose="00000800000000000000" pitchFamily="34" charset="-122"/>
                <a:cs typeface="Martel Sans" panose="00000800000000000000" pitchFamily="34" charset="-120"/>
              </a:rPr>
              <a:t>Sample Output:</a:t>
            </a:r>
            <a:r>
              <a:rPr lang="en-US" sz="900" dirty="0">
                <a:solidFill>
                  <a:srgbClr val="000000"/>
                </a:solidFill>
                <a:latin typeface="Martel Sans" panose="00000800000000000000" pitchFamily="34" charset="0"/>
                <a:ea typeface="Martel Sans" panose="00000800000000000000" pitchFamily="34" charset="-122"/>
                <a:cs typeface="Martel Sans" panose="00000800000000000000" pitchFamily="34" charset="-120"/>
              </a:rPr>
              <a:t> Event: Standup @ Koramangala | Distance: 7.4 km | </a:t>
            </a:r>
            <a:r>
              <a:rPr lang="en-US" sz="900" b="1" dirty="0">
                <a:solidFill>
                  <a:srgbClr val="000000"/>
                </a:solidFill>
                <a:latin typeface="Martel Sans" panose="00000800000000000000" pitchFamily="34" charset="0"/>
                <a:ea typeface="Martel Sans" panose="00000800000000000000" pitchFamily="34" charset="-122"/>
                <a:cs typeface="Martel Sans" panose="00000800000000000000" pitchFamily="34" charset="-120"/>
              </a:rPr>
              <a:t>Metro: ₹30 | 22 mins </a:t>
            </a:r>
            <a:r>
              <a:rPr lang="en-US" sz="900" dirty="0">
                <a:solidFill>
                  <a:srgbClr val="000000"/>
                </a:solidFill>
                <a:latin typeface="Martel Sans" panose="00000800000000000000" pitchFamily="34" charset="0"/>
                <a:ea typeface="Martel Sans" panose="00000800000000000000" pitchFamily="34" charset="-122"/>
                <a:cs typeface="Martel Sans" panose="00000800000000000000" pitchFamily="34" charset="-120"/>
              </a:rPr>
              <a:t>✅</a:t>
            </a:r>
            <a:r>
              <a:rPr lang="en-US" sz="900" b="1" dirty="0">
                <a:solidFill>
                  <a:srgbClr val="000000"/>
                </a:solidFill>
                <a:latin typeface="Martel Sans" panose="00000800000000000000" pitchFamily="34" charset="0"/>
                <a:ea typeface="Martel Sans" panose="00000800000000000000" pitchFamily="34" charset="-122"/>
                <a:cs typeface="Martel Sans" panose="00000800000000000000" pitchFamily="34" charset="-120"/>
              </a:rPr>
              <a:t> RECOMMENDED</a:t>
            </a:r>
            <a:r>
              <a:rPr lang="en-US" sz="900" dirty="0">
                <a:solidFill>
                  <a:srgbClr val="000000"/>
                </a:solidFill>
                <a:latin typeface="Martel Sans" panose="00000800000000000000" pitchFamily="34" charset="0"/>
                <a:ea typeface="Martel Sans" panose="00000800000000000000" pitchFamily="34" charset="-122"/>
                <a:cs typeface="Martel Sans" panose="00000800000000000000" pitchFamily="34" charset="-120"/>
              </a:rPr>
              <a:t> | Cab: ₹120 | 28 mins | Leave By: 09:38 AM | OTP: 847362</a:t>
            </a:r>
            <a:endParaRPr lang="en-US" sz="900" dirty="0"/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86675" y="4869180"/>
            <a:ext cx="1457325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1871" y="355625"/>
            <a:ext cx="3538091" cy="39454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Tech Stack &amp; Architecture</a:t>
            </a:r>
            <a:endParaRPr lang="en-US" sz="2450" dirty="0"/>
          </a:p>
        </p:txBody>
      </p:sp>
      <p:sp>
        <p:nvSpPr>
          <p:cNvPr id="3" name="Shape 1"/>
          <p:cNvSpPr/>
          <p:nvPr/>
        </p:nvSpPr>
        <p:spPr>
          <a:xfrm>
            <a:off x="441871" y="1045294"/>
            <a:ext cx="2690813" cy="2785170"/>
          </a:xfrm>
          <a:prstGeom prst="roundRect">
            <a:avLst>
              <a:gd name="adj" fmla="val 1971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46633" y="1050057"/>
            <a:ext cx="2681288" cy="335310"/>
          </a:xfrm>
          <a:prstGeom prst="rect">
            <a:avLst/>
          </a:prstGeom>
          <a:solidFill>
            <a:srgbClr val="FFFFFF">
              <a:alpha val="4000"/>
            </a:srgbClr>
          </a:solidFill>
        </p:spPr>
      </p:sp>
      <p:sp>
        <p:nvSpPr>
          <p:cNvPr id="5" name="Text 3"/>
          <p:cNvSpPr/>
          <p:nvPr/>
        </p:nvSpPr>
        <p:spPr>
          <a:xfrm>
            <a:off x="572839" y="1122238"/>
            <a:ext cx="1085850" cy="19094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b="1" dirty="0">
                <a:solidFill>
                  <a:srgbClr val="2C3249"/>
                </a:solidFill>
                <a:latin typeface="Martel Sans" panose="00000800000000000000" pitchFamily="34" charset="0"/>
                <a:ea typeface="Martel Sans" panose="00000800000000000000" pitchFamily="34" charset="-122"/>
                <a:cs typeface="Martel Sans" panose="00000800000000000000" pitchFamily="34" charset="-120"/>
              </a:rPr>
              <a:t>Layer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915864" y="1122238"/>
            <a:ext cx="1085850" cy="19094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b="1" dirty="0">
                <a:solidFill>
                  <a:srgbClr val="2C3249"/>
                </a:solidFill>
                <a:latin typeface="Martel Sans" panose="00000800000000000000" pitchFamily="34" charset="0"/>
                <a:ea typeface="Martel Sans" panose="00000800000000000000" pitchFamily="34" charset="-122"/>
                <a:cs typeface="Martel Sans" panose="00000800000000000000" pitchFamily="34" charset="-120"/>
              </a:rPr>
              <a:t>Technology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46633" y="1385367"/>
            <a:ext cx="2681288" cy="335310"/>
          </a:xfrm>
          <a:prstGeom prst="rect">
            <a:avLst/>
          </a:prstGeom>
          <a:solidFill>
            <a:srgbClr val="000000">
              <a:alpha val="4000"/>
            </a:srgbClr>
          </a:solidFill>
        </p:spPr>
      </p:sp>
      <p:sp>
        <p:nvSpPr>
          <p:cNvPr id="8" name="Text 6"/>
          <p:cNvSpPr/>
          <p:nvPr/>
        </p:nvSpPr>
        <p:spPr>
          <a:xfrm>
            <a:off x="572839" y="1457548"/>
            <a:ext cx="1085850" cy="19094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2C3249"/>
                </a:solidFill>
                <a:latin typeface="Martel Sans" panose="00000800000000000000" pitchFamily="34" charset="0"/>
                <a:ea typeface="Martel Sans" panose="00000800000000000000" pitchFamily="34" charset="-122"/>
                <a:cs typeface="Martel Sans" panose="00000800000000000000" pitchFamily="34" charset="-120"/>
              </a:rPr>
              <a:t>Language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915864" y="1457548"/>
            <a:ext cx="1085850" cy="19094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2C3249"/>
                </a:solidFill>
                <a:latin typeface="Martel Sans" panose="00000800000000000000" pitchFamily="34" charset="0"/>
                <a:ea typeface="Martel Sans" panose="00000800000000000000" pitchFamily="34" charset="-122"/>
                <a:cs typeface="Martel Sans" panose="00000800000000000000" pitchFamily="34" charset="-120"/>
              </a:rPr>
              <a:t>Python 3.x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46633" y="1720676"/>
            <a:ext cx="2681288" cy="526256"/>
          </a:xfrm>
          <a:prstGeom prst="rect">
            <a:avLst/>
          </a:prstGeom>
          <a:solidFill>
            <a:srgbClr val="FFFFFF">
              <a:alpha val="4000"/>
            </a:srgbClr>
          </a:solidFill>
        </p:spPr>
      </p:sp>
      <p:sp>
        <p:nvSpPr>
          <p:cNvPr id="11" name="Text 9"/>
          <p:cNvSpPr/>
          <p:nvPr/>
        </p:nvSpPr>
        <p:spPr>
          <a:xfrm>
            <a:off x="572839" y="1792858"/>
            <a:ext cx="1085850" cy="19094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2C3249"/>
                </a:solidFill>
                <a:latin typeface="Martel Sans" panose="00000800000000000000" pitchFamily="34" charset="0"/>
                <a:ea typeface="Martel Sans" panose="00000800000000000000" pitchFamily="34" charset="-122"/>
                <a:cs typeface="Martel Sans" panose="00000800000000000000" pitchFamily="34" charset="-120"/>
              </a:rPr>
              <a:t>Data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915864" y="1792858"/>
            <a:ext cx="1085850" cy="38189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2C3249"/>
                </a:solidFill>
                <a:latin typeface="Martel Sans" panose="00000800000000000000" pitchFamily="34" charset="0"/>
                <a:ea typeface="Martel Sans" panose="00000800000000000000" pitchFamily="34" charset="-122"/>
                <a:cs typeface="Martel Sans" panose="00000800000000000000" pitchFamily="34" charset="-120"/>
              </a:rPr>
              <a:t>JSON (events + locations)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46633" y="2246933"/>
            <a:ext cx="2681288" cy="526256"/>
          </a:xfrm>
          <a:prstGeom prst="rect">
            <a:avLst/>
          </a:prstGeom>
          <a:solidFill>
            <a:srgbClr val="000000">
              <a:alpha val="4000"/>
            </a:srgbClr>
          </a:solidFill>
        </p:spPr>
      </p:sp>
      <p:sp>
        <p:nvSpPr>
          <p:cNvPr id="14" name="Text 12"/>
          <p:cNvSpPr/>
          <p:nvPr/>
        </p:nvSpPr>
        <p:spPr>
          <a:xfrm>
            <a:off x="572839" y="2319114"/>
            <a:ext cx="1085850" cy="19094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2C3249"/>
                </a:solidFill>
                <a:latin typeface="Martel Sans" panose="00000800000000000000" pitchFamily="34" charset="0"/>
                <a:ea typeface="Martel Sans" panose="00000800000000000000" pitchFamily="34" charset="-122"/>
                <a:cs typeface="Martel Sans" panose="00000800000000000000" pitchFamily="34" charset="-120"/>
              </a:rPr>
              <a:t>Geocoding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915864" y="2319114"/>
            <a:ext cx="1085850" cy="38189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2C3249"/>
                </a:solidFill>
                <a:latin typeface="Martel Sans" panose="00000800000000000000" pitchFamily="34" charset="0"/>
                <a:ea typeface="Martel Sans" panose="00000800000000000000" pitchFamily="34" charset="-122"/>
                <a:cs typeface="Martel Sans" panose="00000800000000000000" pitchFamily="34" charset="-120"/>
              </a:rPr>
              <a:t>OpenStreetMap Nominatim API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46633" y="2773189"/>
            <a:ext cx="2681288" cy="526256"/>
          </a:xfrm>
          <a:prstGeom prst="rect">
            <a:avLst/>
          </a:prstGeom>
          <a:solidFill>
            <a:srgbClr val="FFFFFF">
              <a:alpha val="4000"/>
            </a:srgbClr>
          </a:solidFill>
        </p:spPr>
      </p:sp>
      <p:sp>
        <p:nvSpPr>
          <p:cNvPr id="17" name="Text 15"/>
          <p:cNvSpPr/>
          <p:nvPr/>
        </p:nvSpPr>
        <p:spPr>
          <a:xfrm>
            <a:off x="572839" y="2845371"/>
            <a:ext cx="1085850" cy="19094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2C3249"/>
                </a:solidFill>
                <a:latin typeface="Martel Sans" panose="00000800000000000000" pitchFamily="34" charset="0"/>
                <a:ea typeface="Martel Sans" panose="00000800000000000000" pitchFamily="34" charset="-122"/>
                <a:cs typeface="Martel Sans" panose="00000800000000000000" pitchFamily="34" charset="-120"/>
              </a:rPr>
              <a:t>Distance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915864" y="2845371"/>
            <a:ext cx="1085850" cy="38189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2C3249"/>
                </a:solidFill>
                <a:latin typeface="Martel Sans" panose="00000800000000000000" pitchFamily="34" charset="0"/>
                <a:ea typeface="Martel Sans" panose="00000800000000000000" pitchFamily="34" charset="-122"/>
                <a:cs typeface="Martel Sans" panose="00000800000000000000" pitchFamily="34" charset="-120"/>
              </a:rPr>
              <a:t>Haversine Formula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46633" y="3299445"/>
            <a:ext cx="2681288" cy="526256"/>
          </a:xfrm>
          <a:prstGeom prst="rect">
            <a:avLst/>
          </a:prstGeom>
          <a:solidFill>
            <a:srgbClr val="000000">
              <a:alpha val="4000"/>
            </a:srgbClr>
          </a:solidFill>
        </p:spPr>
      </p:sp>
      <p:sp>
        <p:nvSpPr>
          <p:cNvPr id="20" name="Text 18"/>
          <p:cNvSpPr/>
          <p:nvPr/>
        </p:nvSpPr>
        <p:spPr>
          <a:xfrm>
            <a:off x="572839" y="3371627"/>
            <a:ext cx="1085850" cy="19094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2C3249"/>
                </a:solidFill>
                <a:latin typeface="Martel Sans" panose="00000800000000000000" pitchFamily="34" charset="0"/>
                <a:ea typeface="Martel Sans" panose="00000800000000000000" pitchFamily="34" charset="-122"/>
                <a:cs typeface="Martel Sans" panose="00000800000000000000" pitchFamily="34" charset="-120"/>
              </a:rPr>
              <a:t>Interface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915864" y="3371627"/>
            <a:ext cx="1085850" cy="38189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2C3249"/>
                </a:solidFill>
                <a:latin typeface="Martel Sans" panose="00000800000000000000" pitchFamily="34" charset="0"/>
                <a:ea typeface="Martel Sans" panose="00000800000000000000" pitchFamily="34" charset="-122"/>
                <a:cs typeface="Martel Sans" panose="00000800000000000000" pitchFamily="34" charset="-120"/>
              </a:rPr>
              <a:t>Telegram Bot (optional)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41871" y="3956968"/>
            <a:ext cx="1578248" cy="19727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Project Files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41871" y="4266679"/>
            <a:ext cx="2690813" cy="41999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2C3249"/>
                </a:solidFill>
                <a:highlight>
                  <a:srgbClr val="F2F2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main.py</a:t>
            </a:r>
            <a:r>
              <a:rPr lang="en-US" sz="950" dirty="0">
                <a:solidFill>
                  <a:srgbClr val="2C3249"/>
                </a:solidFill>
                <a:latin typeface="Martel Sans" panose="00000800000000000000" pitchFamily="34" charset="0"/>
                <a:ea typeface="Martel Sans" panose="00000800000000000000" pitchFamily="34" charset="-122"/>
                <a:cs typeface="Martel Sans" panose="00000800000000000000" pitchFamily="34" charset="-120"/>
              </a:rPr>
              <a:t> · </a:t>
            </a:r>
            <a:r>
              <a:rPr lang="en-US" sz="950" dirty="0">
                <a:solidFill>
                  <a:srgbClr val="2C3249"/>
                </a:solidFill>
                <a:highlight>
                  <a:srgbClr val="F2F2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calendar_reader.py</a:t>
            </a:r>
            <a:r>
              <a:rPr lang="en-US" sz="950" dirty="0">
                <a:solidFill>
                  <a:srgbClr val="2C3249"/>
                </a:solidFill>
                <a:latin typeface="Martel Sans" panose="00000800000000000000" pitchFamily="34" charset="0"/>
                <a:ea typeface="Martel Sans" panose="00000800000000000000" pitchFamily="34" charset="-122"/>
                <a:cs typeface="Martel Sans" panose="00000800000000000000" pitchFamily="34" charset="-120"/>
              </a:rPr>
              <a:t> · </a:t>
            </a:r>
            <a:r>
              <a:rPr lang="en-US" sz="950" dirty="0">
                <a:solidFill>
                  <a:srgbClr val="2C3249"/>
                </a:solidFill>
                <a:highlight>
                  <a:srgbClr val="F2F2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bot.py</a:t>
            </a:r>
            <a:r>
              <a:rPr lang="en-US" sz="950" dirty="0">
                <a:solidFill>
                  <a:srgbClr val="2C3249"/>
                </a:solidFill>
                <a:latin typeface="Martel Sans" panose="00000800000000000000" pitchFamily="34" charset="0"/>
                <a:ea typeface="Martel Sans" panose="00000800000000000000" pitchFamily="34" charset="-122"/>
                <a:cs typeface="Martel Sans" panose="00000800000000000000" pitchFamily="34" charset="-120"/>
              </a:rPr>
              <a:t> · </a:t>
            </a:r>
            <a:r>
              <a:rPr lang="en-US" sz="950" dirty="0">
                <a:solidFill>
                  <a:srgbClr val="2C3249"/>
                </a:solidFill>
                <a:highlight>
                  <a:srgbClr val="F2F2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events.json</a:t>
            </a:r>
            <a:r>
              <a:rPr lang="en-US" sz="950" dirty="0">
                <a:solidFill>
                  <a:srgbClr val="2C3249"/>
                </a:solidFill>
                <a:latin typeface="Martel Sans" panose="00000800000000000000" pitchFamily="34" charset="0"/>
                <a:ea typeface="Martel Sans" panose="00000800000000000000" pitchFamily="34" charset="-122"/>
                <a:cs typeface="Martel Sans" panose="00000800000000000000" pitchFamily="34" charset="-120"/>
              </a:rPr>
              <a:t> · </a:t>
            </a:r>
            <a:r>
              <a:rPr lang="en-US" sz="950" dirty="0">
                <a:solidFill>
                  <a:srgbClr val="2C3249"/>
                </a:solidFill>
                <a:highlight>
                  <a:srgbClr val="F2F2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locations.json</a:t>
            </a:r>
            <a:endParaRPr lang="en-US" sz="950" dirty="0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92996" y="1073200"/>
            <a:ext cx="5166271" cy="3560266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3622395" y="3288524"/>
            <a:ext cx="1411798" cy="18805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events.json</a:t>
            </a:r>
            <a:endParaRPr lang="en-US" sz="1150" dirty="0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25332" y="2381559"/>
            <a:ext cx="334326" cy="334326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4825448" y="1793458"/>
            <a:ext cx="1457663" cy="18805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Geocoding</a:t>
            </a:r>
            <a:endParaRPr lang="en-US" sz="1150" dirty="0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82118" y="2585394"/>
            <a:ext cx="334327" cy="334326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5803981" y="3726387"/>
            <a:ext cx="1411798" cy="18805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Distance (Haversine)</a:t>
            </a:r>
            <a:endParaRPr lang="en-US" sz="1150" dirty="0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39007" y="2789229"/>
            <a:ext cx="334327" cy="334326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7057183" y="2187023"/>
            <a:ext cx="1411798" cy="18805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Fare → Decision</a:t>
            </a:r>
            <a:endParaRPr lang="en-US" sz="1150" dirty="0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63807" y="3008108"/>
            <a:ext cx="334326" cy="334327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86675" y="4869180"/>
            <a:ext cx="1457325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55340"/>
            <a:ext cx="3544119" cy="4429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Real-World Impact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065809"/>
            <a:ext cx="1886471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👔</a:t>
            </a: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 Working Professional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2372320"/>
            <a:ext cx="2599134" cy="68044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anose="00000800000000000000" pitchFamily="34" charset="0"/>
                <a:ea typeface="Martel Sans" panose="00000800000000000000" pitchFamily="34" charset="-122"/>
                <a:cs typeface="Martel Sans" panose="00000800000000000000" pitchFamily="34" charset="-120"/>
              </a:rPr>
              <a:t>Meeting at Whitefield — Metro picked automatically, </a:t>
            </a:r>
            <a:r>
              <a:rPr lang="en-US" sz="1100" b="1" dirty="0">
                <a:solidFill>
                  <a:srgbClr val="2C3249"/>
                </a:solidFill>
                <a:latin typeface="Martel Sans" panose="00000800000000000000" pitchFamily="34" charset="0"/>
                <a:ea typeface="Martel Sans" panose="00000800000000000000" pitchFamily="34" charset="-122"/>
                <a:cs typeface="Martel Sans" panose="00000800000000000000" pitchFamily="34" charset="-120"/>
              </a:rPr>
              <a:t>saving ₹90</a:t>
            </a:r>
            <a:r>
              <a:rPr lang="en-US" sz="1100" dirty="0">
                <a:solidFill>
                  <a:srgbClr val="2C3249"/>
                </a:solidFill>
                <a:latin typeface="Martel Sans" panose="00000800000000000000" pitchFamily="34" charset="0"/>
                <a:ea typeface="Martel Sans" panose="00000800000000000000" pitchFamily="34" charset="-122"/>
                <a:cs typeface="Martel Sans" panose="00000800000000000000" pitchFamily="34" charset="-120"/>
              </a:rPr>
              <a:t> vs cab with a faster arrival time.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3272433" y="2065809"/>
            <a:ext cx="1772022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🎓</a:t>
            </a: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 Student Commuter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272433" y="2372320"/>
            <a:ext cx="2599134" cy="9072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anose="00000800000000000000" pitchFamily="34" charset="0"/>
                <a:ea typeface="Martel Sans" panose="00000800000000000000" pitchFamily="34" charset="-122"/>
                <a:cs typeface="Martel Sans" panose="00000800000000000000" pitchFamily="34" charset="-120"/>
              </a:rPr>
              <a:t>8 AM class detected — CommuteMate+ generates </a:t>
            </a:r>
            <a:r>
              <a:rPr lang="en-US" sz="1100" b="1" dirty="0">
                <a:solidFill>
                  <a:srgbClr val="2C3249"/>
                </a:solidFill>
                <a:latin typeface="Martel Sans" panose="00000800000000000000" pitchFamily="34" charset="0"/>
                <a:ea typeface="Martel Sans" panose="00000800000000000000" pitchFamily="34" charset="-122"/>
                <a:cs typeface="Martel Sans" panose="00000800000000000000" pitchFamily="34" charset="-120"/>
              </a:rPr>
              <a:t>"Leave By 7:18 AM"</a:t>
            </a:r>
            <a:r>
              <a:rPr lang="en-US" sz="1100" dirty="0">
                <a:solidFill>
                  <a:srgbClr val="2C3249"/>
                </a:solidFill>
                <a:latin typeface="Martel Sans" panose="00000800000000000000" pitchFamily="34" charset="0"/>
                <a:ea typeface="Martel Sans" panose="00000800000000000000" pitchFamily="34" charset="-122"/>
                <a:cs typeface="Martel Sans" panose="00000800000000000000" pitchFamily="34" charset="-120"/>
              </a:rPr>
              <a:t> and picks the cheapest route.</a:t>
            </a:r>
            <a:endParaRPr lang="en-US" sz="1100" dirty="0"/>
          </a:p>
        </p:txBody>
      </p:sp>
      <p:sp>
        <p:nvSpPr>
          <p:cNvPr id="10" name="Text 5"/>
          <p:cNvSpPr/>
          <p:nvPr/>
        </p:nvSpPr>
        <p:spPr>
          <a:xfrm>
            <a:off x="6048747" y="2065809"/>
            <a:ext cx="1772022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📱</a:t>
            </a: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 Telegram User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048747" y="2372320"/>
            <a:ext cx="2599134" cy="68044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anose="00000800000000000000" pitchFamily="34" charset="0"/>
                <a:ea typeface="Martel Sans" panose="00000800000000000000" pitchFamily="34" charset="-122"/>
                <a:cs typeface="Martel Sans" panose="00000800000000000000" pitchFamily="34" charset="-120"/>
              </a:rPr>
              <a:t>Recommendation pushed directly to phone — </a:t>
            </a:r>
            <a:r>
              <a:rPr lang="en-US" sz="1100" b="1" dirty="0">
                <a:solidFill>
                  <a:srgbClr val="2C3249"/>
                </a:solidFill>
                <a:latin typeface="Martel Sans" panose="00000800000000000000" pitchFamily="34" charset="0"/>
                <a:ea typeface="Martel Sans" panose="00000800000000000000" pitchFamily="34" charset="-122"/>
                <a:cs typeface="Martel Sans" panose="00000800000000000000" pitchFamily="34" charset="-120"/>
              </a:rPr>
              <a:t>no app switching</a:t>
            </a:r>
            <a:r>
              <a:rPr lang="en-US" sz="1100" dirty="0">
                <a:solidFill>
                  <a:srgbClr val="2C3249"/>
                </a:solidFill>
                <a:latin typeface="Martel Sans" panose="00000800000000000000" pitchFamily="34" charset="0"/>
                <a:ea typeface="Martel Sans" panose="00000800000000000000" pitchFamily="34" charset="-122"/>
                <a:cs typeface="Martel Sans" panose="00000800000000000000" pitchFamily="34" charset="-120"/>
              </a:rPr>
              <a:t>, no manual lookup, instant action.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496119" y="3509888"/>
            <a:ext cx="2599134" cy="46776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3650"/>
              </a:lnSpc>
              <a:buNone/>
            </a:pPr>
            <a:r>
              <a:rPr lang="en-US" sz="36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10 min</a:t>
            </a:r>
            <a:endParaRPr lang="en-US" sz="3650" dirty="0"/>
          </a:p>
        </p:txBody>
      </p:sp>
      <p:sp>
        <p:nvSpPr>
          <p:cNvPr id="13" name="Text 8"/>
          <p:cNvSpPr/>
          <p:nvPr/>
        </p:nvSpPr>
        <p:spPr>
          <a:xfrm>
            <a:off x="909637" y="4154760"/>
            <a:ext cx="1772022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Saved Per Trip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496119" y="4461272"/>
            <a:ext cx="2599134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anose="00000800000000000000" pitchFamily="34" charset="0"/>
                <a:ea typeface="Martel Sans" panose="00000800000000000000" pitchFamily="34" charset="-122"/>
                <a:cs typeface="Martel Sans" panose="00000800000000000000" pitchFamily="34" charset="-120"/>
              </a:rPr>
              <a:t>On decision time alone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3272433" y="3509888"/>
            <a:ext cx="2599134" cy="46776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3650"/>
              </a:lnSpc>
              <a:buNone/>
            </a:pPr>
            <a:r>
              <a:rPr lang="en-US" sz="36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70%</a:t>
            </a:r>
            <a:endParaRPr lang="en-US" sz="3650" dirty="0"/>
          </a:p>
        </p:txBody>
      </p:sp>
      <p:sp>
        <p:nvSpPr>
          <p:cNvPr id="16" name="Text 11"/>
          <p:cNvSpPr/>
          <p:nvPr/>
        </p:nvSpPr>
        <p:spPr>
          <a:xfrm>
            <a:off x="3685952" y="4154760"/>
            <a:ext cx="1772022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Cost Savings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3272433" y="4461272"/>
            <a:ext cx="2599134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anose="00000800000000000000" pitchFamily="34" charset="0"/>
                <a:ea typeface="Martel Sans" panose="00000800000000000000" pitchFamily="34" charset="-122"/>
                <a:cs typeface="Martel Sans" panose="00000800000000000000" pitchFamily="34" charset="-120"/>
              </a:rPr>
              <a:t>Metro vs Cab on eligible routes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6048747" y="3509888"/>
            <a:ext cx="2599134" cy="46776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3650"/>
              </a:lnSpc>
              <a:buNone/>
            </a:pPr>
            <a:r>
              <a:rPr lang="en-US" sz="36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100%</a:t>
            </a:r>
            <a:endParaRPr lang="en-US" sz="3650" dirty="0"/>
          </a:p>
        </p:txBody>
      </p:sp>
      <p:sp>
        <p:nvSpPr>
          <p:cNvPr id="19" name="Text 14"/>
          <p:cNvSpPr/>
          <p:nvPr/>
        </p:nvSpPr>
        <p:spPr>
          <a:xfrm>
            <a:off x="6462266" y="4154760"/>
            <a:ext cx="1772022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API Uptime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6048747" y="4461272"/>
            <a:ext cx="2599134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anose="00000800000000000000" pitchFamily="34" charset="0"/>
                <a:ea typeface="Martel Sans" panose="00000800000000000000" pitchFamily="34" charset="-122"/>
                <a:cs typeface="Martel Sans" panose="00000800000000000000" pitchFamily="34" charset="-120"/>
              </a:rPr>
              <a:t>Guaranteed via JSON fallback</a:t>
            </a:r>
            <a:endParaRPr lang="en-US" sz="1100" dirty="0"/>
          </a:p>
        </p:txBody>
      </p:sp>
      <p:pic>
        <p:nvPicPr>
          <p:cNvPr id="21" name="Picture 20"/>
          <p:cNvPicPr/>
          <p:nvPr/>
        </p:nvPicPr>
        <p:blipFill>
          <a:blip r:embed="rId1"/>
          <a:stretch>
            <a:fillRect/>
          </a:stretch>
        </p:blipFill>
        <p:spPr>
          <a:xfrm>
            <a:off x="893445" y="947420"/>
            <a:ext cx="1091565" cy="941070"/>
          </a:xfrm>
          <a:prstGeom prst="rect">
            <a:avLst/>
          </a:prstGeom>
        </p:spPr>
      </p:pic>
      <p:pic>
        <p:nvPicPr>
          <p:cNvPr id="22" name="Picture 21"/>
          <p:cNvPicPr/>
          <p:nvPr/>
        </p:nvPicPr>
        <p:blipFill>
          <a:blip r:embed="rId2"/>
          <a:stretch>
            <a:fillRect/>
          </a:stretch>
        </p:blipFill>
        <p:spPr>
          <a:xfrm>
            <a:off x="3686175" y="947420"/>
            <a:ext cx="1095375" cy="941705"/>
          </a:xfrm>
          <a:prstGeom prst="rect">
            <a:avLst/>
          </a:prstGeom>
        </p:spPr>
      </p:pic>
      <p:pic>
        <p:nvPicPr>
          <p:cNvPr id="23" name="Picture 22"/>
          <p:cNvPicPr/>
          <p:nvPr/>
        </p:nvPicPr>
        <p:blipFill>
          <a:blip r:embed="rId3"/>
          <a:stretch>
            <a:fillRect/>
          </a:stretch>
        </p:blipFill>
        <p:spPr>
          <a:xfrm>
            <a:off x="6310630" y="952500"/>
            <a:ext cx="1254760" cy="935355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6675" y="4724400"/>
            <a:ext cx="1457325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6393" y="409649"/>
            <a:ext cx="4346525" cy="38070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Why CommuteMate+ Stands Out</a:t>
            </a:r>
            <a:endParaRPr lang="en-US" sz="2350" dirty="0"/>
          </a:p>
        </p:txBody>
      </p:sp>
      <p:sp>
        <p:nvSpPr>
          <p:cNvPr id="3" name="Text 1"/>
          <p:cNvSpPr/>
          <p:nvPr/>
        </p:nvSpPr>
        <p:spPr>
          <a:xfrm>
            <a:off x="426393" y="999679"/>
            <a:ext cx="8291215" cy="18119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50" dirty="0">
                <a:solidFill>
                  <a:srgbClr val="2C3249"/>
                </a:solidFill>
                <a:latin typeface="Martel Sans" panose="00000800000000000000" pitchFamily="34" charset="0"/>
                <a:ea typeface="Martel Sans" panose="00000800000000000000" pitchFamily="34" charset="-122"/>
                <a:cs typeface="Martel Sans" panose="00000800000000000000" pitchFamily="34" charset="-120"/>
              </a:rPr>
              <a:t>Every competitor solves part of the problem. CommuteMate+ solves all of it — automatically.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26393" y="1416323"/>
            <a:ext cx="3997003" cy="3199730"/>
          </a:xfrm>
          <a:prstGeom prst="roundRect">
            <a:avLst>
              <a:gd name="adj" fmla="val 1599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53045" y="1488653"/>
            <a:ext cx="750838" cy="18119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50" b="1" dirty="0">
                <a:solidFill>
                  <a:srgbClr val="2C3249"/>
                </a:solidFill>
                <a:latin typeface="Martel Sans" panose="00000800000000000000" pitchFamily="34" charset="0"/>
                <a:ea typeface="Martel Sans" panose="00000800000000000000" pitchFamily="34" charset="-122"/>
                <a:cs typeface="Martel Sans" panose="00000800000000000000" pitchFamily="34" charset="-120"/>
              </a:rPr>
              <a:t>Feature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552277" y="1488653"/>
            <a:ext cx="748457" cy="3623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50" b="1" dirty="0">
                <a:solidFill>
                  <a:srgbClr val="2C3249"/>
                </a:solidFill>
                <a:latin typeface="Martel Sans" panose="00000800000000000000" pitchFamily="34" charset="0"/>
                <a:ea typeface="Martel Sans" panose="00000800000000000000" pitchFamily="34" charset="-122"/>
                <a:cs typeface="Martel Sans" panose="00000800000000000000" pitchFamily="34" charset="-120"/>
              </a:rPr>
              <a:t>Google Maps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549128" y="1488653"/>
            <a:ext cx="748457" cy="18119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50" b="1" dirty="0">
                <a:solidFill>
                  <a:srgbClr val="2C3249"/>
                </a:solidFill>
                <a:latin typeface="Martel Sans" panose="00000800000000000000" pitchFamily="34" charset="0"/>
                <a:ea typeface="Martel Sans" panose="00000800000000000000" pitchFamily="34" charset="-122"/>
                <a:cs typeface="Martel Sans" panose="00000800000000000000" pitchFamily="34" charset="-120"/>
              </a:rPr>
              <a:t>Ola/Uber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545979" y="1488653"/>
            <a:ext cx="750838" cy="3623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50" b="1" dirty="0">
                <a:solidFill>
                  <a:srgbClr val="2C3249"/>
                </a:solidFill>
                <a:latin typeface="Martel Sans" panose="00000800000000000000" pitchFamily="34" charset="0"/>
                <a:ea typeface="Martel Sans" panose="00000800000000000000" pitchFamily="34" charset="-122"/>
                <a:cs typeface="Martel Sans" panose="00000800000000000000" pitchFamily="34" charset="-120"/>
              </a:rPr>
              <a:t>CommuteMate+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53045" y="1990948"/>
            <a:ext cx="750838" cy="3623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50" dirty="0">
                <a:solidFill>
                  <a:srgbClr val="2C3249"/>
                </a:solidFill>
                <a:latin typeface="Martel Sans" panose="00000800000000000000" pitchFamily="34" charset="0"/>
                <a:ea typeface="Martel Sans" panose="00000800000000000000" pitchFamily="34" charset="-122"/>
                <a:cs typeface="Martel Sans" panose="00000800000000000000" pitchFamily="34" charset="-120"/>
              </a:rPr>
              <a:t>Calendar Integration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552277" y="1990948"/>
            <a:ext cx="748457" cy="19548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artel Sans" panose="00000800000000000000" pitchFamily="34" charset="0"/>
                <a:ea typeface="Martel Sans" panose="00000800000000000000" pitchFamily="34" charset="-122"/>
                <a:cs typeface="Martel Sans" panose="00000800000000000000" pitchFamily="34" charset="-120"/>
              </a:rPr>
              <a:t>❌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549128" y="1990948"/>
            <a:ext cx="748457" cy="19548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artel Sans" panose="00000800000000000000" pitchFamily="34" charset="0"/>
                <a:ea typeface="Martel Sans" panose="00000800000000000000" pitchFamily="34" charset="-122"/>
                <a:cs typeface="Martel Sans" panose="00000800000000000000" pitchFamily="34" charset="-120"/>
              </a:rPr>
              <a:t>❌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545979" y="1990948"/>
            <a:ext cx="750838" cy="19548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artel Sans" panose="00000800000000000000" pitchFamily="34" charset="0"/>
                <a:ea typeface="Martel Sans" panose="00000800000000000000" pitchFamily="34" charset="-122"/>
                <a:cs typeface="Martel Sans" panose="00000800000000000000" pitchFamily="34" charset="-120"/>
              </a:rPr>
              <a:t>✅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53045" y="2493243"/>
            <a:ext cx="750838" cy="5435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50" dirty="0">
                <a:solidFill>
                  <a:srgbClr val="2C3249"/>
                </a:solidFill>
                <a:latin typeface="Martel Sans" panose="00000800000000000000" pitchFamily="34" charset="0"/>
                <a:ea typeface="Martel Sans" panose="00000800000000000000" pitchFamily="34" charset="-122"/>
                <a:cs typeface="Martel Sans" panose="00000800000000000000" pitchFamily="34" charset="-120"/>
              </a:rPr>
              <a:t>Metro vs Cab Comparison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552277" y="2493243"/>
            <a:ext cx="748457" cy="19548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artel Sans" panose="00000800000000000000" pitchFamily="34" charset="0"/>
                <a:ea typeface="Martel Sans" panose="00000800000000000000" pitchFamily="34" charset="-122"/>
                <a:cs typeface="Martel Sans" panose="00000800000000000000" pitchFamily="34" charset="-120"/>
              </a:rPr>
              <a:t>❌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549128" y="2493243"/>
            <a:ext cx="748457" cy="19548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artel Sans" panose="00000800000000000000" pitchFamily="34" charset="0"/>
                <a:ea typeface="Martel Sans" panose="00000800000000000000" pitchFamily="34" charset="-122"/>
                <a:cs typeface="Martel Sans" panose="00000800000000000000" pitchFamily="34" charset="-120"/>
              </a:rPr>
              <a:t>❌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545979" y="2493243"/>
            <a:ext cx="750838" cy="19548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artel Sans" panose="00000800000000000000" pitchFamily="34" charset="0"/>
                <a:ea typeface="Martel Sans" panose="00000800000000000000" pitchFamily="34" charset="-122"/>
                <a:cs typeface="Martel Sans" panose="00000800000000000000" pitchFamily="34" charset="-120"/>
              </a:rPr>
              <a:t>✅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53045" y="3176736"/>
            <a:ext cx="750838" cy="3623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50" dirty="0">
                <a:solidFill>
                  <a:srgbClr val="2C3249"/>
                </a:solidFill>
                <a:latin typeface="Martel Sans" panose="00000800000000000000" pitchFamily="34" charset="0"/>
                <a:ea typeface="Martel Sans" panose="00000800000000000000" pitchFamily="34" charset="-122"/>
                <a:cs typeface="Martel Sans" panose="00000800000000000000" pitchFamily="34" charset="-120"/>
              </a:rPr>
              <a:t>Auto Best-Option Pick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552277" y="3176736"/>
            <a:ext cx="748457" cy="19548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artel Sans" panose="00000800000000000000" pitchFamily="34" charset="0"/>
                <a:ea typeface="Martel Sans" panose="00000800000000000000" pitchFamily="34" charset="-122"/>
                <a:cs typeface="Martel Sans" panose="00000800000000000000" pitchFamily="34" charset="-120"/>
              </a:rPr>
              <a:t>❌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549128" y="3176736"/>
            <a:ext cx="748457" cy="19548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artel Sans" panose="00000800000000000000" pitchFamily="34" charset="0"/>
                <a:ea typeface="Martel Sans" panose="00000800000000000000" pitchFamily="34" charset="-122"/>
                <a:cs typeface="Martel Sans" panose="00000800000000000000" pitchFamily="34" charset="-120"/>
              </a:rPr>
              <a:t>❌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545979" y="3176736"/>
            <a:ext cx="750838" cy="19548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artel Sans" panose="00000800000000000000" pitchFamily="34" charset="0"/>
                <a:ea typeface="Martel Sans" panose="00000800000000000000" pitchFamily="34" charset="-122"/>
                <a:cs typeface="Martel Sans" panose="00000800000000000000" pitchFamily="34" charset="-120"/>
              </a:rPr>
              <a:t>✅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53045" y="3679031"/>
            <a:ext cx="750838" cy="3623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50" dirty="0">
                <a:solidFill>
                  <a:srgbClr val="2C3249"/>
                </a:solidFill>
                <a:latin typeface="Martel Sans" panose="00000800000000000000" pitchFamily="34" charset="0"/>
                <a:ea typeface="Martel Sans" panose="00000800000000000000" pitchFamily="34" charset="-122"/>
                <a:cs typeface="Martel Sans" panose="00000800000000000000" pitchFamily="34" charset="-120"/>
              </a:rPr>
              <a:t>"Leave By" Time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552277" y="3679031"/>
            <a:ext cx="748457" cy="19548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artel Sans" panose="00000800000000000000" pitchFamily="34" charset="0"/>
                <a:ea typeface="Martel Sans" panose="00000800000000000000" pitchFamily="34" charset="-122"/>
                <a:cs typeface="Martel Sans" panose="00000800000000000000" pitchFamily="34" charset="-120"/>
              </a:rPr>
              <a:t>❌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549128" y="3679031"/>
            <a:ext cx="748457" cy="19548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artel Sans" panose="00000800000000000000" pitchFamily="34" charset="0"/>
                <a:ea typeface="Martel Sans" panose="00000800000000000000" pitchFamily="34" charset="-122"/>
                <a:cs typeface="Martel Sans" panose="00000800000000000000" pitchFamily="34" charset="-120"/>
              </a:rPr>
              <a:t>❌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545979" y="3679031"/>
            <a:ext cx="750838" cy="19548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artel Sans" panose="00000800000000000000" pitchFamily="34" charset="0"/>
                <a:ea typeface="Martel Sans" panose="00000800000000000000" pitchFamily="34" charset="-122"/>
                <a:cs typeface="Martel Sans" panose="00000800000000000000" pitchFamily="34" charset="-120"/>
              </a:rPr>
              <a:t>✅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53045" y="4181326"/>
            <a:ext cx="750838" cy="3623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50" dirty="0">
                <a:solidFill>
                  <a:srgbClr val="2C3249"/>
                </a:solidFill>
                <a:latin typeface="Martel Sans" panose="00000800000000000000" pitchFamily="34" charset="0"/>
                <a:ea typeface="Martel Sans" panose="00000800000000000000" pitchFamily="34" charset="-122"/>
                <a:cs typeface="Martel Sans" panose="00000800000000000000" pitchFamily="34" charset="-120"/>
              </a:rPr>
              <a:t>Offline JSON Fallback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552277" y="4181326"/>
            <a:ext cx="748457" cy="19548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artel Sans" panose="00000800000000000000" pitchFamily="34" charset="0"/>
                <a:ea typeface="Martel Sans" panose="00000800000000000000" pitchFamily="34" charset="-122"/>
                <a:cs typeface="Martel Sans" panose="00000800000000000000" pitchFamily="34" charset="-120"/>
              </a:rPr>
              <a:t>❌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549128" y="4181326"/>
            <a:ext cx="748457" cy="19548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artel Sans" panose="00000800000000000000" pitchFamily="34" charset="0"/>
                <a:ea typeface="Martel Sans" panose="00000800000000000000" pitchFamily="34" charset="-122"/>
                <a:cs typeface="Martel Sans" panose="00000800000000000000" pitchFamily="34" charset="-120"/>
              </a:rPr>
              <a:t>❌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545979" y="4181326"/>
            <a:ext cx="750838" cy="19548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artel Sans" panose="00000800000000000000" pitchFamily="34" charset="0"/>
                <a:ea typeface="Martel Sans" panose="00000800000000000000" pitchFamily="34" charset="-122"/>
                <a:cs typeface="Martel Sans" panose="00000800000000000000" pitchFamily="34" charset="-120"/>
              </a:rPr>
              <a:t>✅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37633" y="1298600"/>
            <a:ext cx="4172471" cy="3435176"/>
          </a:xfrm>
          <a:prstGeom prst="roundRect">
            <a:avLst>
              <a:gd name="adj" fmla="val 2554"/>
            </a:avLst>
          </a:prstGeom>
          <a:solidFill>
            <a:srgbClr val="437066"/>
          </a:solidFill>
        </p:spPr>
      </p:sp>
      <p:sp>
        <p:nvSpPr>
          <p:cNvPr id="30" name="Text 28"/>
          <p:cNvSpPr/>
          <p:nvPr/>
        </p:nvSpPr>
        <p:spPr>
          <a:xfrm>
            <a:off x="4759449" y="1403226"/>
            <a:ext cx="1522884" cy="19035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The Key Advantage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759449" y="1698203"/>
            <a:ext cx="3928839" cy="5435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Martel Sans" panose="00000800000000000000" pitchFamily="34" charset="0"/>
                <a:ea typeface="Martel Sans" panose="00000800000000000000" pitchFamily="34" charset="-122"/>
                <a:cs typeface="Martel Sans" panose="00000800000000000000" pitchFamily="34" charset="-120"/>
              </a:rPr>
              <a:t>CommuteMate+ doesn't just </a:t>
            </a:r>
            <a:r>
              <a:rPr lang="en-US" sz="950" i="1" dirty="0">
                <a:solidFill>
                  <a:srgbClr val="FFFFFF"/>
                </a:solidFill>
                <a:latin typeface="Martel Sans" panose="00000800000000000000" pitchFamily="34" charset="0"/>
                <a:ea typeface="Martel Sans" panose="00000800000000000000" pitchFamily="34" charset="-122"/>
                <a:cs typeface="Martel Sans" panose="00000800000000000000" pitchFamily="34" charset="-120"/>
              </a:rPr>
              <a:t>show</a:t>
            </a:r>
            <a:r>
              <a:rPr lang="en-US" sz="950" dirty="0">
                <a:solidFill>
                  <a:srgbClr val="FFFFFF"/>
                </a:solidFill>
                <a:latin typeface="Martel Sans" panose="00000800000000000000" pitchFamily="34" charset="0"/>
                <a:ea typeface="Martel Sans" panose="00000800000000000000" pitchFamily="34" charset="-122"/>
                <a:cs typeface="Martel Sans" panose="00000800000000000000" pitchFamily="34" charset="-120"/>
              </a:rPr>
              <a:t> options — it </a:t>
            </a:r>
            <a:r>
              <a:rPr lang="en-US" sz="950" b="1" dirty="0">
                <a:solidFill>
                  <a:srgbClr val="FFFFFF"/>
                </a:solidFill>
                <a:latin typeface="Martel Sans" panose="00000800000000000000" pitchFamily="34" charset="0"/>
                <a:ea typeface="Martel Sans" panose="00000800000000000000" pitchFamily="34" charset="-122"/>
                <a:cs typeface="Martel Sans" panose="00000800000000000000" pitchFamily="34" charset="-120"/>
              </a:rPr>
              <a:t>makes the decision for you</a:t>
            </a:r>
            <a:r>
              <a:rPr lang="en-US" sz="950" dirty="0">
                <a:solidFill>
                  <a:srgbClr val="FFFFFF"/>
                </a:solidFill>
                <a:latin typeface="Martel Sans" panose="00000800000000000000" pitchFamily="34" charset="0"/>
                <a:ea typeface="Martel Sans" panose="00000800000000000000" pitchFamily="34" charset="-122"/>
                <a:cs typeface="Martel Sans" panose="00000800000000000000" pitchFamily="34" charset="-120"/>
              </a:rPr>
              <a:t>, based on your real schedule, with zero manual input required.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759449" y="2336006"/>
            <a:ext cx="3928839" cy="5435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Martel Sans" panose="00000800000000000000" pitchFamily="34" charset="0"/>
                <a:ea typeface="Martel Sans" panose="00000800000000000000" pitchFamily="34" charset="-122"/>
                <a:cs typeface="Martel Sans" panose="00000800000000000000" pitchFamily="34" charset="-120"/>
              </a:rPr>
              <a:t>No competitor combines calendar awareness, transport comparison, and intelligent auto-selection in a single, offline-capable system.</a:t>
            </a:r>
            <a:endParaRPr lang="en-US" sz="950" dirty="0"/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6675" y="4869180"/>
            <a:ext cx="1457325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60338"/>
            <a:ext cx="3544119" cy="4429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Project Resources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357685"/>
            <a:ext cx="1772022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Access the Project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96119" y="1738610"/>
            <a:ext cx="1880592" cy="1407542"/>
          </a:xfrm>
          <a:prstGeom prst="roundRect">
            <a:avLst>
              <a:gd name="adj" fmla="val 4230"/>
            </a:avLst>
          </a:prstGeom>
          <a:solidFill>
            <a:srgbClr val="FFFFFF"/>
          </a:solidFill>
          <a:ln w="19050">
            <a:solidFill>
              <a:srgbClr val="C5D2C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6927" y="1899419"/>
            <a:ext cx="1558975" cy="44291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🔗</a:t>
            </a: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 GitHub Repository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56927" y="2484090"/>
            <a:ext cx="1558975" cy="50125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C3249"/>
                </a:solidFill>
                <a:highlight>
                  <a:srgbClr val="F2F2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github.com/[username]/CommuteMate-Plus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18470" y="1738610"/>
            <a:ext cx="1880592" cy="1407542"/>
          </a:xfrm>
          <a:prstGeom prst="roundRect">
            <a:avLst>
              <a:gd name="adj" fmla="val 4230"/>
            </a:avLst>
          </a:prstGeom>
          <a:solidFill>
            <a:srgbClr val="FFFFFF"/>
          </a:solidFill>
          <a:ln w="19050">
            <a:solidFill>
              <a:srgbClr val="C5D2C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79278" y="1899419"/>
            <a:ext cx="1558975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🎥</a:t>
            </a: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 Demo Video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2679278" y="2262634"/>
            <a:ext cx="1558975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anose="00000800000000000000" pitchFamily="34" charset="0"/>
                <a:ea typeface="Martel Sans" panose="00000800000000000000" pitchFamily="34" charset="-122"/>
                <a:cs typeface="Martel Sans" panose="00000800000000000000" pitchFamily="34" charset="-120"/>
              </a:rPr>
              <a:t>[YouTube / Drive Link]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96119" y="3305621"/>
            <a:ext cx="1772022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To Run Locally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96119" y="3686547"/>
            <a:ext cx="3902943" cy="737146"/>
          </a:xfrm>
          <a:prstGeom prst="roundRect">
            <a:avLst>
              <a:gd name="adj" fmla="val 8077"/>
            </a:avLst>
          </a:prstGeom>
          <a:solidFill>
            <a:srgbClr val="F2F2F2"/>
          </a:solidFill>
        </p:spPr>
      </p:sp>
      <p:sp>
        <p:nvSpPr>
          <p:cNvPr id="12" name="Shape 10"/>
          <p:cNvSpPr/>
          <p:nvPr/>
        </p:nvSpPr>
        <p:spPr>
          <a:xfrm>
            <a:off x="489049" y="3686547"/>
            <a:ext cx="3917082" cy="737146"/>
          </a:xfrm>
          <a:prstGeom prst="roundRect">
            <a:avLst>
              <a:gd name="adj" fmla="val 2885"/>
            </a:avLst>
          </a:prstGeom>
          <a:solidFill>
            <a:srgbClr val="F2F2F2"/>
          </a:solidFill>
        </p:spPr>
      </p:sp>
      <p:sp>
        <p:nvSpPr>
          <p:cNvPr id="13" name="Text 11"/>
          <p:cNvSpPr/>
          <p:nvPr/>
        </p:nvSpPr>
        <p:spPr>
          <a:xfrm>
            <a:off x="666229" y="3828306"/>
            <a:ext cx="3562722" cy="4536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pip install requests</a:t>
            </a:r>
            <a:endParaRPr lang="en-US" sz="1100" dirty="0"/>
          </a:p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python main.py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49701" y="1357685"/>
            <a:ext cx="1772022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Submitted Files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4749701" y="1738610"/>
            <a:ext cx="3902943" cy="2567285"/>
          </a:xfrm>
          <a:prstGeom prst="roundRect">
            <a:avLst>
              <a:gd name="adj" fmla="val 2319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54463" y="1743373"/>
            <a:ext cx="3893418" cy="406450"/>
          </a:xfrm>
          <a:prstGeom prst="rect">
            <a:avLst/>
          </a:prstGeom>
          <a:solidFill>
            <a:srgbClr val="FFFFFF">
              <a:alpha val="4000"/>
            </a:srgbClr>
          </a:solidFill>
        </p:spPr>
      </p:sp>
      <p:sp>
        <p:nvSpPr>
          <p:cNvPr id="17" name="Text 15"/>
          <p:cNvSpPr/>
          <p:nvPr/>
        </p:nvSpPr>
        <p:spPr>
          <a:xfrm>
            <a:off x="4896296" y="1833190"/>
            <a:ext cx="1660773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2C3249"/>
                </a:solidFill>
                <a:latin typeface="Martel Sans" panose="00000800000000000000" pitchFamily="34" charset="0"/>
                <a:ea typeface="Martel Sans" panose="00000800000000000000" pitchFamily="34" charset="-122"/>
                <a:cs typeface="Martel Sans" panose="00000800000000000000" pitchFamily="34" charset="-120"/>
              </a:rPr>
              <a:t>File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45350" y="1833190"/>
            <a:ext cx="1660773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2C3249"/>
                </a:solidFill>
                <a:latin typeface="Martel Sans" panose="00000800000000000000" pitchFamily="34" charset="0"/>
                <a:ea typeface="Martel Sans" panose="00000800000000000000" pitchFamily="34" charset="-122"/>
                <a:cs typeface="Martel Sans" panose="00000800000000000000" pitchFamily="34" charset="-120"/>
              </a:rPr>
              <a:t>Purpose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463" y="2149822"/>
            <a:ext cx="3893418" cy="430262"/>
          </a:xfrm>
          <a:prstGeom prst="rect">
            <a:avLst/>
          </a:prstGeom>
          <a:solidFill>
            <a:srgbClr val="000000">
              <a:alpha val="4000"/>
            </a:srgbClr>
          </a:solidFill>
        </p:spPr>
      </p:sp>
      <p:sp>
        <p:nvSpPr>
          <p:cNvPr id="20" name="Text 18"/>
          <p:cNvSpPr/>
          <p:nvPr/>
        </p:nvSpPr>
        <p:spPr>
          <a:xfrm>
            <a:off x="4896296" y="2239640"/>
            <a:ext cx="1660773" cy="25062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C3249"/>
                </a:solidFill>
                <a:highlight>
                  <a:srgbClr val="F2F2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main.py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45350" y="2239640"/>
            <a:ext cx="1660773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anose="00000800000000000000" pitchFamily="34" charset="0"/>
                <a:ea typeface="Martel Sans" panose="00000800000000000000" pitchFamily="34" charset="-122"/>
                <a:cs typeface="Martel Sans" panose="00000800000000000000" pitchFamily="34" charset="-120"/>
              </a:rPr>
              <a:t>Core engine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463" y="2580084"/>
            <a:ext cx="3893418" cy="430262"/>
          </a:xfrm>
          <a:prstGeom prst="rect">
            <a:avLst/>
          </a:prstGeom>
          <a:solidFill>
            <a:srgbClr val="FFFFFF">
              <a:alpha val="4000"/>
            </a:srgbClr>
          </a:solidFill>
        </p:spPr>
      </p:sp>
      <p:sp>
        <p:nvSpPr>
          <p:cNvPr id="23" name="Text 21"/>
          <p:cNvSpPr/>
          <p:nvPr/>
        </p:nvSpPr>
        <p:spPr>
          <a:xfrm>
            <a:off x="4896296" y="2669902"/>
            <a:ext cx="1660773" cy="25062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C3249"/>
                </a:solidFill>
                <a:highlight>
                  <a:srgbClr val="F2F2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calendar_reader.py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45350" y="2669902"/>
            <a:ext cx="1660773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anose="00000800000000000000" pitchFamily="34" charset="0"/>
                <a:ea typeface="Martel Sans" panose="00000800000000000000" pitchFamily="34" charset="-122"/>
                <a:cs typeface="Martel Sans" panose="00000800000000000000" pitchFamily="34" charset="-120"/>
              </a:rPr>
              <a:t>Event reader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463" y="3010346"/>
            <a:ext cx="3893418" cy="430262"/>
          </a:xfrm>
          <a:prstGeom prst="rect">
            <a:avLst/>
          </a:prstGeom>
          <a:solidFill>
            <a:srgbClr val="000000">
              <a:alpha val="4000"/>
            </a:srgbClr>
          </a:solidFill>
        </p:spPr>
      </p:sp>
      <p:sp>
        <p:nvSpPr>
          <p:cNvPr id="26" name="Text 24"/>
          <p:cNvSpPr/>
          <p:nvPr/>
        </p:nvSpPr>
        <p:spPr>
          <a:xfrm>
            <a:off x="4896296" y="3100164"/>
            <a:ext cx="1660773" cy="25062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C3249"/>
                </a:solidFill>
                <a:highlight>
                  <a:srgbClr val="F2F2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events.json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845350" y="3100164"/>
            <a:ext cx="1660773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anose="00000800000000000000" pitchFamily="34" charset="0"/>
                <a:ea typeface="Martel Sans" panose="00000800000000000000" pitchFamily="34" charset="-122"/>
                <a:cs typeface="Martel Sans" panose="00000800000000000000" pitchFamily="34" charset="-120"/>
              </a:rPr>
              <a:t>Calendar data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54463" y="3440609"/>
            <a:ext cx="3893418" cy="430262"/>
          </a:xfrm>
          <a:prstGeom prst="rect">
            <a:avLst/>
          </a:prstGeom>
          <a:solidFill>
            <a:srgbClr val="FFFFFF">
              <a:alpha val="4000"/>
            </a:srgbClr>
          </a:solidFill>
        </p:spPr>
      </p:sp>
      <p:sp>
        <p:nvSpPr>
          <p:cNvPr id="29" name="Text 27"/>
          <p:cNvSpPr/>
          <p:nvPr/>
        </p:nvSpPr>
        <p:spPr>
          <a:xfrm>
            <a:off x="4896296" y="3530426"/>
            <a:ext cx="1660773" cy="25062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C3249"/>
                </a:solidFill>
                <a:highlight>
                  <a:srgbClr val="F2F2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locations.json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845350" y="3530426"/>
            <a:ext cx="1660773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anose="00000800000000000000" pitchFamily="34" charset="0"/>
                <a:ea typeface="Martel Sans" panose="00000800000000000000" pitchFamily="34" charset="-122"/>
                <a:cs typeface="Martel Sans" panose="00000800000000000000" pitchFamily="34" charset="-120"/>
              </a:rPr>
              <a:t>Geocoding fallback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54463" y="3870871"/>
            <a:ext cx="3893418" cy="430262"/>
          </a:xfrm>
          <a:prstGeom prst="rect">
            <a:avLst/>
          </a:prstGeom>
          <a:solidFill>
            <a:srgbClr val="000000">
              <a:alpha val="4000"/>
            </a:srgbClr>
          </a:solidFill>
        </p:spPr>
      </p:sp>
      <p:sp>
        <p:nvSpPr>
          <p:cNvPr id="32" name="Text 30"/>
          <p:cNvSpPr/>
          <p:nvPr/>
        </p:nvSpPr>
        <p:spPr>
          <a:xfrm>
            <a:off x="4896296" y="3960688"/>
            <a:ext cx="1660773" cy="25062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C3249"/>
                </a:solidFill>
                <a:highlight>
                  <a:srgbClr val="F2F2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README.md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845350" y="3960688"/>
            <a:ext cx="1660773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anose="00000800000000000000" pitchFamily="34" charset="0"/>
                <a:ea typeface="Martel Sans" panose="00000800000000000000" pitchFamily="34" charset="-122"/>
                <a:cs typeface="Martel Sans" panose="00000800000000000000" pitchFamily="34" charset="-120"/>
              </a:rPr>
              <a:t>Setup guide</a:t>
            </a:r>
            <a:endParaRPr lang="en-US" sz="1100" dirty="0"/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6675" y="4869180"/>
            <a:ext cx="1457325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0182" y="306065"/>
            <a:ext cx="696888" cy="177850"/>
          </a:xfrm>
          <a:prstGeom prst="roundRect">
            <a:avLst>
              <a:gd name="adj" fmla="val 19669"/>
            </a:avLst>
          </a:prstGeom>
          <a:solidFill>
            <a:srgbClr val="DFECE9"/>
          </a:solidFill>
        </p:spPr>
      </p:sp>
      <p:sp>
        <p:nvSpPr>
          <p:cNvPr id="3" name="Text 1"/>
          <p:cNvSpPr/>
          <p:nvPr/>
        </p:nvSpPr>
        <p:spPr>
          <a:xfrm>
            <a:off x="1042615" y="337245"/>
            <a:ext cx="572021" cy="1154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50" dirty="0">
                <a:solidFill>
                  <a:srgbClr val="2C3249"/>
                </a:solidFill>
                <a:latin typeface="Martel Sans" panose="00000800000000000000" pitchFamily="34" charset="0"/>
                <a:ea typeface="Martel Sans" panose="00000800000000000000" pitchFamily="34" charset="-122"/>
                <a:cs typeface="Martel Sans" panose="00000800000000000000" pitchFamily="34" charset="-120"/>
              </a:rPr>
              <a:t>WHAT'S NEXT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980182" y="514424"/>
            <a:ext cx="4153719" cy="3253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The Road Ahead for CommuteMate+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64782" y="954435"/>
            <a:ext cx="14288" cy="3480643"/>
          </a:xfrm>
          <a:prstGeom prst="roundRect">
            <a:avLst>
              <a:gd name="adj" fmla="val 306036"/>
            </a:avLst>
          </a:prstGeom>
          <a:solidFill>
            <a:srgbClr val="C5D2CF"/>
          </a:solidFill>
        </p:spPr>
      </p:sp>
      <p:sp>
        <p:nvSpPr>
          <p:cNvPr id="6" name="Shape 4"/>
          <p:cNvSpPr/>
          <p:nvPr/>
        </p:nvSpPr>
        <p:spPr>
          <a:xfrm>
            <a:off x="4156807" y="1064344"/>
            <a:ext cx="312316" cy="14288"/>
          </a:xfrm>
          <a:prstGeom prst="roundRect">
            <a:avLst>
              <a:gd name="adj" fmla="val 306036"/>
            </a:avLst>
          </a:prstGeom>
          <a:solidFill>
            <a:srgbClr val="C5D2CF"/>
          </a:solidFill>
        </p:spPr>
      </p:sp>
      <p:sp>
        <p:nvSpPr>
          <p:cNvPr id="7" name="Shape 5"/>
          <p:cNvSpPr/>
          <p:nvPr/>
        </p:nvSpPr>
        <p:spPr>
          <a:xfrm>
            <a:off x="4454835" y="954435"/>
            <a:ext cx="234181" cy="234181"/>
          </a:xfrm>
          <a:prstGeom prst="roundRect">
            <a:avLst>
              <a:gd name="adj" fmla="val 18672"/>
            </a:avLst>
          </a:prstGeom>
          <a:solidFill>
            <a:srgbClr val="DFECE9"/>
          </a:solidFill>
          <a:ln w="4763">
            <a:solidFill>
              <a:srgbClr val="C5D2C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93828" y="973894"/>
            <a:ext cx="156121" cy="19518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50046" y="990154"/>
            <a:ext cx="1301353" cy="16266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r">
              <a:lnSpc>
                <a:spcPts val="125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Live API Integration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80182" y="1198662"/>
            <a:ext cx="3071217" cy="1444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r">
              <a:lnSpc>
                <a:spcPts val="1100"/>
              </a:lnSpc>
              <a:buNone/>
            </a:pPr>
            <a:r>
              <a:rPr lang="en-US" sz="800" dirty="0">
                <a:solidFill>
                  <a:srgbClr val="2C3249"/>
                </a:solidFill>
                <a:latin typeface="Martel Sans" panose="00000800000000000000" pitchFamily="34" charset="0"/>
                <a:ea typeface="Martel Sans" panose="00000800000000000000" pitchFamily="34" charset="-122"/>
                <a:cs typeface="Martel Sans" panose="00000800000000000000" pitchFamily="34" charset="-120"/>
              </a:rPr>
              <a:t>Real Ola/Uber fares &amp; live ETA data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674729" y="1633612"/>
            <a:ext cx="312316" cy="14288"/>
          </a:xfrm>
          <a:prstGeom prst="roundRect">
            <a:avLst>
              <a:gd name="adj" fmla="val 306036"/>
            </a:avLst>
          </a:prstGeom>
          <a:solidFill>
            <a:srgbClr val="C5D2CF"/>
          </a:solidFill>
        </p:spPr>
      </p:sp>
      <p:sp>
        <p:nvSpPr>
          <p:cNvPr id="12" name="Shape 10"/>
          <p:cNvSpPr/>
          <p:nvPr/>
        </p:nvSpPr>
        <p:spPr>
          <a:xfrm>
            <a:off x="4454835" y="1523702"/>
            <a:ext cx="234181" cy="234181"/>
          </a:xfrm>
          <a:prstGeom prst="roundRect">
            <a:avLst>
              <a:gd name="adj" fmla="val 18672"/>
            </a:avLst>
          </a:prstGeom>
          <a:solidFill>
            <a:srgbClr val="DFECE9"/>
          </a:solidFill>
          <a:ln w="4763">
            <a:solidFill>
              <a:srgbClr val="C5D2C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93828" y="1543162"/>
            <a:ext cx="156121" cy="19518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92452" y="1559421"/>
            <a:ext cx="1301353" cy="16266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Google Calendar Sync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92452" y="1767929"/>
            <a:ext cx="3071292" cy="1444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00" dirty="0">
                <a:solidFill>
                  <a:srgbClr val="2C3249"/>
                </a:solidFill>
                <a:latin typeface="Martel Sans" panose="00000800000000000000" pitchFamily="34" charset="0"/>
                <a:ea typeface="Martel Sans" panose="00000800000000000000" pitchFamily="34" charset="-122"/>
                <a:cs typeface="Martel Sans" panose="00000800000000000000" pitchFamily="34" charset="-120"/>
              </a:rPr>
              <a:t>Pull events directly — no JSON needed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156807" y="2144316"/>
            <a:ext cx="312316" cy="14288"/>
          </a:xfrm>
          <a:prstGeom prst="roundRect">
            <a:avLst>
              <a:gd name="adj" fmla="val 306036"/>
            </a:avLst>
          </a:prstGeom>
          <a:solidFill>
            <a:srgbClr val="C5D2CF"/>
          </a:solidFill>
        </p:spPr>
      </p:sp>
      <p:sp>
        <p:nvSpPr>
          <p:cNvPr id="17" name="Shape 15"/>
          <p:cNvSpPr/>
          <p:nvPr/>
        </p:nvSpPr>
        <p:spPr>
          <a:xfrm>
            <a:off x="4454835" y="2034406"/>
            <a:ext cx="234181" cy="234181"/>
          </a:xfrm>
          <a:prstGeom prst="roundRect">
            <a:avLst>
              <a:gd name="adj" fmla="val 18672"/>
            </a:avLst>
          </a:prstGeom>
          <a:solidFill>
            <a:srgbClr val="DFECE9"/>
          </a:solidFill>
          <a:ln w="4763">
            <a:solidFill>
              <a:srgbClr val="C5D2C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93828" y="2053865"/>
            <a:ext cx="156121" cy="19518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750046" y="2070125"/>
            <a:ext cx="1301353" cy="16266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r">
              <a:lnSpc>
                <a:spcPts val="125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ML Personalization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80182" y="2278633"/>
            <a:ext cx="3071217" cy="1444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r">
              <a:lnSpc>
                <a:spcPts val="1100"/>
              </a:lnSpc>
              <a:buNone/>
            </a:pPr>
            <a:r>
              <a:rPr lang="en-US" sz="800" dirty="0">
                <a:solidFill>
                  <a:srgbClr val="2C3249"/>
                </a:solidFill>
                <a:latin typeface="Martel Sans" panose="00000800000000000000" pitchFamily="34" charset="0"/>
                <a:ea typeface="Martel Sans" panose="00000800000000000000" pitchFamily="34" charset="-122"/>
                <a:cs typeface="Martel Sans" panose="00000800000000000000" pitchFamily="34" charset="-120"/>
              </a:rPr>
              <a:t>Learns your preferences over time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674729" y="2655019"/>
            <a:ext cx="312316" cy="14288"/>
          </a:xfrm>
          <a:prstGeom prst="roundRect">
            <a:avLst>
              <a:gd name="adj" fmla="val 306036"/>
            </a:avLst>
          </a:prstGeom>
          <a:solidFill>
            <a:srgbClr val="C5D2CF"/>
          </a:solidFill>
        </p:spPr>
      </p:sp>
      <p:sp>
        <p:nvSpPr>
          <p:cNvPr id="22" name="Shape 20"/>
          <p:cNvSpPr/>
          <p:nvPr/>
        </p:nvSpPr>
        <p:spPr>
          <a:xfrm>
            <a:off x="4454835" y="2545110"/>
            <a:ext cx="234181" cy="234181"/>
          </a:xfrm>
          <a:prstGeom prst="roundRect">
            <a:avLst>
              <a:gd name="adj" fmla="val 18672"/>
            </a:avLst>
          </a:prstGeom>
          <a:solidFill>
            <a:srgbClr val="DFECE9"/>
          </a:solidFill>
          <a:ln w="4763">
            <a:solidFill>
              <a:srgbClr val="C5D2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93828" y="2564569"/>
            <a:ext cx="156121" cy="19518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92452" y="2580829"/>
            <a:ext cx="1301353" cy="16266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Multi-Stop Routing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92452" y="2789337"/>
            <a:ext cx="3071292" cy="1444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00" dirty="0">
                <a:solidFill>
                  <a:srgbClr val="2C3249"/>
                </a:solidFill>
                <a:latin typeface="Martel Sans" panose="00000800000000000000" pitchFamily="34" charset="0"/>
                <a:ea typeface="Martel Sans" panose="00000800000000000000" pitchFamily="34" charset="-122"/>
                <a:cs typeface="Martel Sans" panose="00000800000000000000" pitchFamily="34" charset="-120"/>
              </a:rPr>
              <a:t>Optimize back-to-back event commutes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156807" y="3165723"/>
            <a:ext cx="312316" cy="14288"/>
          </a:xfrm>
          <a:prstGeom prst="roundRect">
            <a:avLst>
              <a:gd name="adj" fmla="val 306036"/>
            </a:avLst>
          </a:prstGeom>
          <a:solidFill>
            <a:srgbClr val="C5D2CF"/>
          </a:solidFill>
        </p:spPr>
      </p:sp>
      <p:sp>
        <p:nvSpPr>
          <p:cNvPr id="27" name="Shape 25"/>
          <p:cNvSpPr/>
          <p:nvPr/>
        </p:nvSpPr>
        <p:spPr>
          <a:xfrm>
            <a:off x="4454835" y="3055813"/>
            <a:ext cx="234181" cy="234181"/>
          </a:xfrm>
          <a:prstGeom prst="roundRect">
            <a:avLst>
              <a:gd name="adj" fmla="val 18672"/>
            </a:avLst>
          </a:prstGeom>
          <a:solidFill>
            <a:srgbClr val="DFECE9"/>
          </a:solidFill>
          <a:ln w="4763">
            <a:solidFill>
              <a:srgbClr val="C5D2C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93828" y="3075273"/>
            <a:ext cx="156121" cy="19518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5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750046" y="3091532"/>
            <a:ext cx="1301353" cy="16266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r">
              <a:lnSpc>
                <a:spcPts val="125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Mobile App + Alerts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80182" y="3300040"/>
            <a:ext cx="3071217" cy="1444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r">
              <a:lnSpc>
                <a:spcPts val="1100"/>
              </a:lnSpc>
              <a:buNone/>
            </a:pPr>
            <a:r>
              <a:rPr lang="en-US" sz="800" dirty="0">
                <a:solidFill>
                  <a:srgbClr val="2C3249"/>
                </a:solidFill>
                <a:latin typeface="Martel Sans" panose="00000800000000000000" pitchFamily="34" charset="0"/>
                <a:ea typeface="Martel Sans" panose="00000800000000000000" pitchFamily="34" charset="-122"/>
                <a:cs typeface="Martel Sans" panose="00000800000000000000" pitchFamily="34" charset="-120"/>
              </a:rPr>
              <a:t>Push notifications &amp; native mobile UI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674729" y="3676427"/>
            <a:ext cx="312316" cy="14288"/>
          </a:xfrm>
          <a:prstGeom prst="roundRect">
            <a:avLst>
              <a:gd name="adj" fmla="val 306036"/>
            </a:avLst>
          </a:prstGeom>
          <a:solidFill>
            <a:srgbClr val="C5D2CF"/>
          </a:solidFill>
        </p:spPr>
      </p:sp>
      <p:sp>
        <p:nvSpPr>
          <p:cNvPr id="32" name="Shape 30"/>
          <p:cNvSpPr/>
          <p:nvPr/>
        </p:nvSpPr>
        <p:spPr>
          <a:xfrm>
            <a:off x="4454835" y="3566517"/>
            <a:ext cx="234181" cy="234181"/>
          </a:xfrm>
          <a:prstGeom prst="roundRect">
            <a:avLst>
              <a:gd name="adj" fmla="val 18672"/>
            </a:avLst>
          </a:prstGeom>
          <a:solidFill>
            <a:srgbClr val="DFECE9"/>
          </a:solidFill>
          <a:ln w="4763">
            <a:solidFill>
              <a:srgbClr val="C5D2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493828" y="3585976"/>
            <a:ext cx="156121" cy="19518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6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092452" y="3602236"/>
            <a:ext cx="1301353" cy="16266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National Expansion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092452" y="3810744"/>
            <a:ext cx="3071292" cy="1444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00" dirty="0">
                <a:solidFill>
                  <a:srgbClr val="2C3249"/>
                </a:solidFill>
                <a:latin typeface="Martel Sans" panose="00000800000000000000" pitchFamily="34" charset="0"/>
                <a:ea typeface="Martel Sans" panose="00000800000000000000" pitchFamily="34" charset="-122"/>
                <a:cs typeface="Martel Sans" panose="00000800000000000000" pitchFamily="34" charset="-120"/>
              </a:rPr>
              <a:t>Mumbai, Delhi &amp; Chennai metro networks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136303" y="4606975"/>
            <a:ext cx="7027441" cy="1444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00" dirty="0">
                <a:solidFill>
                  <a:srgbClr val="2C3249"/>
                </a:solidFill>
                <a:latin typeface="Martel Sans" panose="00000800000000000000" pitchFamily="34" charset="0"/>
                <a:ea typeface="Martel Sans" panose="00000800000000000000" pitchFamily="34" charset="-122"/>
                <a:cs typeface="Martel Sans" panose="00000800000000000000" pitchFamily="34" charset="-120"/>
              </a:rPr>
              <a:t>"You focus on your day. CommuteMate+ handles the rest."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980182" y="4521026"/>
            <a:ext cx="14288" cy="316334"/>
          </a:xfrm>
          <a:prstGeom prst="rect">
            <a:avLst/>
          </a:prstGeom>
          <a:solidFill>
            <a:srgbClr val="437066"/>
          </a:solidFill>
        </p:spPr>
      </p:sp>
      <p:pic>
        <p:nvPicPr>
          <p:cNvPr id="38" name="Picture 3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79690" y="4869180"/>
            <a:ext cx="1457325" cy="274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4715</Words>
  <Application>WPS Presentation</Application>
  <PresentationFormat>On-screen Show (16:9)</PresentationFormat>
  <Paragraphs>344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30" baseType="lpstr">
      <vt:lpstr>Arial</vt:lpstr>
      <vt:lpstr>SimSun</vt:lpstr>
      <vt:lpstr>Wingdings</vt:lpstr>
      <vt:lpstr>Kanit Light</vt:lpstr>
      <vt:lpstr>Kanit Light</vt:lpstr>
      <vt:lpstr>Kanit Light</vt:lpstr>
      <vt:lpstr>Martel Sans</vt:lpstr>
      <vt:lpstr>Martel Sans</vt:lpstr>
      <vt:lpstr>Martel Sans</vt:lpstr>
      <vt:lpstr>Consolas</vt:lpstr>
      <vt:lpstr>Consolas</vt:lpstr>
      <vt:lpstr>Consolas</vt:lpstr>
      <vt:lpstr>Calibri</vt:lpstr>
      <vt:lpstr>Microsoft YaHei</vt:lpstr>
      <vt:lpstr>Arial Unicode MS</vt:lpstr>
      <vt:lpstr>Berlin Sans FB Demi</vt:lpstr>
      <vt:lpstr>SamsungOne 800</vt:lpstr>
      <vt:lpstr>Solid Edge ISO CE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Kashish Pawar</cp:lastModifiedBy>
  <cp:revision>3</cp:revision>
  <dcterms:created xsi:type="dcterms:W3CDTF">2026-05-06T18:11:00Z</dcterms:created>
  <dcterms:modified xsi:type="dcterms:W3CDTF">2026-05-06T18:20:05Z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1033-12.1.0.25242</vt:lpwstr>
  </property>
  <property fmtid="{D5CDD505-2E9C-101B-9397-08002B2CF9AE}" pid="3" name="ICV">
    <vt:lpwstr>391351FB067B41A78D68D6F773BA39D4_13</vt:lpwstr>
  </property>
</Properties>
</file>